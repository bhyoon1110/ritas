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6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B4B03-FEC1-4245-A171-D5276108F0DC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9DE12-F288-4BE0-B422-3FB168EC69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1470025"/>
          </a:xfrm>
        </p:spPr>
        <p:txBody>
          <a:bodyPr/>
          <a:lstStyle/>
          <a:p>
            <a:pPr eaLnBrk="1" hangingPunct="1"/>
            <a:r>
              <a:rPr lang="en-US"/>
              <a:t>FT-IR measurement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6600"/>
            <a:ext cx="6400800" cy="2362200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Type : ATR method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Detector :  DTGS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Crystal : diamond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Resolution : 4 cm</a:t>
            </a:r>
            <a:r>
              <a:rPr lang="en-US" baseline="30000" dirty="0">
                <a:solidFill>
                  <a:schemeClr val="tx1"/>
                </a:solidFill>
              </a:rPr>
              <a:t>-1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Scan time : 32 scans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Range : 4000 ~ 500 cm</a:t>
            </a:r>
            <a:r>
              <a:rPr lang="en-US" baseline="30000" dirty="0">
                <a:solidFill>
                  <a:schemeClr val="tx1"/>
                </a:solidFill>
              </a:rPr>
              <a:t>-1</a:t>
            </a:r>
            <a:endParaRPr lang="en-US" dirty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baseline="30000" dirty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AAE94FD2-77A9-4124-9604-383A3974C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664049"/>
              </p:ext>
            </p:extLst>
          </p:nvPr>
        </p:nvGraphicFramePr>
        <p:xfrm>
          <a:off x="152400" y="609600"/>
          <a:ext cx="7315200" cy="6262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Graph" r:id="rId3" imgW="9802299" imgH="7502559" progId="Origin95.Graph">
                  <p:embed/>
                </p:oleObj>
              </mc:Choice>
              <mc:Fallback>
                <p:oleObj name="Graph" r:id="rId3" imgW="9802299" imgH="7502559" progId="Origin95.Graph">
                  <p:embed/>
                  <p:pic>
                    <p:nvPicPr>
                      <p:cNvPr id="22" name="개체 21">
                        <a:extLst>
                          <a:ext uri="{FF2B5EF4-FFF2-40B4-BE49-F238E27FC236}">
                            <a16:creationId xmlns:a16="http://schemas.microsoft.com/office/drawing/2014/main" id="{C16D2BB3-D629-4C81-A9BE-BCA287FD5D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" y="609600"/>
                        <a:ext cx="7315200" cy="62627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9DF3A4DA-7FBF-45F7-9FA5-39FD54888EB7}"/>
              </a:ext>
            </a:extLst>
          </p:cNvPr>
          <p:cNvGrpSpPr/>
          <p:nvPr/>
        </p:nvGrpSpPr>
        <p:grpSpPr>
          <a:xfrm>
            <a:off x="3767296" y="2164817"/>
            <a:ext cx="844328" cy="2562447"/>
            <a:chOff x="4350462" y="1790253"/>
            <a:chExt cx="762000" cy="283100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B704D62-8F9B-4038-9BAC-644C01515840}"/>
                </a:ext>
              </a:extLst>
            </p:cNvPr>
            <p:cNvSpPr/>
            <p:nvPr/>
          </p:nvSpPr>
          <p:spPr>
            <a:xfrm>
              <a:off x="4382308" y="1801861"/>
              <a:ext cx="274490" cy="2819400"/>
            </a:xfrm>
            <a:prstGeom prst="rect">
              <a:avLst/>
            </a:prstGeom>
            <a:solidFill>
              <a:srgbClr val="4F81BD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67478C9-F94D-4BC1-82B8-5E8863367FF5}"/>
                </a:ext>
              </a:extLst>
            </p:cNvPr>
            <p:cNvSpPr txBox="1"/>
            <p:nvPr/>
          </p:nvSpPr>
          <p:spPr>
            <a:xfrm>
              <a:off x="4350462" y="1790253"/>
              <a:ext cx="762000" cy="816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tx2"/>
                  </a:solidFill>
                </a:rPr>
                <a:t>Epoxy</a:t>
              </a:r>
            </a:p>
            <a:p>
              <a:r>
                <a:rPr lang="en-US" altLang="ko-KR" sz="1400" b="1" dirty="0">
                  <a:solidFill>
                    <a:schemeClr val="tx2"/>
                  </a:solidFill>
                </a:rPr>
                <a:t>CH</a:t>
              </a:r>
              <a:r>
                <a:rPr lang="en-US" altLang="ko-KR" sz="1400" b="1" baseline="-25000" dirty="0">
                  <a:solidFill>
                    <a:schemeClr val="tx2"/>
                  </a:solidFill>
                </a:rPr>
                <a:t>2</a:t>
              </a:r>
            </a:p>
            <a:p>
              <a:r>
                <a:rPr lang="en-US" altLang="ko-KR" sz="1400" b="1" dirty="0"/>
                <a:t> </a:t>
              </a:r>
              <a:endParaRPr lang="ko-KR" altLang="en-US" sz="1400" b="1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89EE2CE-1437-4088-B74C-B0FCD2EFD6A5}"/>
              </a:ext>
            </a:extLst>
          </p:cNvPr>
          <p:cNvSpPr txBox="1"/>
          <p:nvPr/>
        </p:nvSpPr>
        <p:spPr>
          <a:xfrm>
            <a:off x="457200" y="205280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FT-IR measurement</a:t>
            </a:r>
            <a:endParaRPr lang="ko-KR" altLang="en-US" b="1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EAC05DA-3C82-4424-99EB-EA77E3F07C89}"/>
              </a:ext>
            </a:extLst>
          </p:cNvPr>
          <p:cNvSpPr txBox="1">
            <a:spLocks/>
          </p:cNvSpPr>
          <p:nvPr/>
        </p:nvSpPr>
        <p:spPr>
          <a:xfrm>
            <a:off x="6858000" y="166316"/>
            <a:ext cx="2286000" cy="943319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sz="1200" dirty="0"/>
              <a:t>Type : Transmittance (vacuum)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/>
              <a:t>Detector :  DTGS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/>
              <a:t>Resolution : 4 cm</a:t>
            </a:r>
            <a:r>
              <a:rPr lang="en-US" sz="1200" baseline="30000" dirty="0"/>
              <a:t>-1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1200" dirty="0"/>
              <a:t>Scan time : 128 scans </a:t>
            </a:r>
            <a:endParaRPr lang="en-US" sz="500" dirty="0"/>
          </a:p>
          <a:p>
            <a:pPr>
              <a:defRPr/>
            </a:pPr>
            <a:r>
              <a:rPr lang="en-US" sz="1200" dirty="0"/>
              <a:t>Range : 5000 ~ 400 cm</a:t>
            </a:r>
            <a:r>
              <a:rPr lang="en-US" sz="1200" baseline="30000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33422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4300" y="-19050"/>
            <a:ext cx="9372600" cy="689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67F7AB0-D5ED-4BBA-ADE7-27386380242B}"/>
              </a:ext>
            </a:extLst>
          </p:cNvPr>
          <p:cNvSpPr/>
          <p:nvPr/>
        </p:nvSpPr>
        <p:spPr>
          <a:xfrm>
            <a:off x="5994000" y="1905000"/>
            <a:ext cx="152400" cy="3200400"/>
          </a:xfrm>
          <a:prstGeom prst="rect">
            <a:avLst/>
          </a:prstGeom>
          <a:solidFill>
            <a:srgbClr val="4F81B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5B49E-6186-437C-B55C-398ECF34CABC}"/>
              </a:ext>
            </a:extLst>
          </p:cNvPr>
          <p:cNvSpPr txBox="1"/>
          <p:nvPr/>
        </p:nvSpPr>
        <p:spPr>
          <a:xfrm>
            <a:off x="5804773" y="1828055"/>
            <a:ext cx="528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b="1" dirty="0">
                <a:solidFill>
                  <a:schemeClr val="tx2"/>
                </a:solidFill>
                <a:latin typeface="+mn-ea"/>
              </a:rPr>
              <a:t>C=O</a:t>
            </a:r>
          </a:p>
          <a:p>
            <a:pPr algn="ctr"/>
            <a:endParaRPr lang="ko-KR" altLang="en-US" sz="7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60D696-FA76-451D-8447-D567B59BF2F2}"/>
              </a:ext>
            </a:extLst>
          </p:cNvPr>
          <p:cNvSpPr/>
          <p:nvPr/>
        </p:nvSpPr>
        <p:spPr>
          <a:xfrm>
            <a:off x="2863650" y="1905000"/>
            <a:ext cx="260550" cy="3200400"/>
          </a:xfrm>
          <a:prstGeom prst="rect">
            <a:avLst/>
          </a:prstGeom>
          <a:solidFill>
            <a:srgbClr val="4F81B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EBBD80-E12E-408F-988C-1B8993DBE56A}"/>
              </a:ext>
            </a:extLst>
          </p:cNvPr>
          <p:cNvSpPr/>
          <p:nvPr/>
        </p:nvSpPr>
        <p:spPr>
          <a:xfrm>
            <a:off x="3168450" y="1905000"/>
            <a:ext cx="336749" cy="3200400"/>
          </a:xfrm>
          <a:prstGeom prst="rect">
            <a:avLst/>
          </a:prstGeom>
          <a:solidFill>
            <a:srgbClr val="4F81B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FEBCB-D2C6-4F89-918A-E197AF63B8F2}"/>
              </a:ext>
            </a:extLst>
          </p:cNvPr>
          <p:cNvSpPr txBox="1"/>
          <p:nvPr/>
        </p:nvSpPr>
        <p:spPr>
          <a:xfrm>
            <a:off x="2260200" y="1905000"/>
            <a:ext cx="882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tx2"/>
                </a:solidFill>
                <a:latin typeface="+mn-ea"/>
              </a:rPr>
              <a:t>방향족 </a:t>
            </a:r>
            <a:r>
              <a:rPr lang="en-US" altLang="ko-KR" sz="1000" b="1" dirty="0">
                <a:solidFill>
                  <a:schemeClr val="tx2"/>
                </a:solidFill>
                <a:latin typeface="+mn-ea"/>
              </a:rPr>
              <a:t>C-H</a:t>
            </a:r>
            <a:endParaRPr lang="ko-KR" altLang="en-US" sz="10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82035-3BFD-48F1-8B8E-519D0A7139BA}"/>
              </a:ext>
            </a:extLst>
          </p:cNvPr>
          <p:cNvSpPr txBox="1"/>
          <p:nvPr/>
        </p:nvSpPr>
        <p:spPr>
          <a:xfrm>
            <a:off x="2930063" y="1905000"/>
            <a:ext cx="882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2"/>
                </a:solidFill>
                <a:latin typeface="+mn-ea"/>
              </a:rPr>
              <a:t>C-H</a:t>
            </a:r>
            <a:endParaRPr lang="ko-KR" altLang="en-US" sz="10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0A5BAB-BB86-48E0-B454-23ADA682A120}"/>
              </a:ext>
            </a:extLst>
          </p:cNvPr>
          <p:cNvSpPr/>
          <p:nvPr/>
        </p:nvSpPr>
        <p:spPr>
          <a:xfrm>
            <a:off x="6336500" y="1905000"/>
            <a:ext cx="345043" cy="3200400"/>
          </a:xfrm>
          <a:prstGeom prst="rect">
            <a:avLst/>
          </a:prstGeom>
          <a:solidFill>
            <a:srgbClr val="4F81B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05A18D-0B1A-4C71-A565-398E8BC9E349}"/>
              </a:ext>
            </a:extLst>
          </p:cNvPr>
          <p:cNvSpPr txBox="1"/>
          <p:nvPr/>
        </p:nvSpPr>
        <p:spPr>
          <a:xfrm>
            <a:off x="6275727" y="1828055"/>
            <a:ext cx="45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>
                <a:solidFill>
                  <a:schemeClr val="tx2"/>
                </a:solidFill>
                <a:latin typeface="+mn-ea"/>
              </a:rPr>
              <a:t> </a:t>
            </a:r>
            <a:endParaRPr lang="en-US" altLang="ko-KR" sz="700" b="1" dirty="0">
              <a:solidFill>
                <a:schemeClr val="tx2"/>
              </a:solidFill>
              <a:latin typeface="+mn-ea"/>
            </a:endParaRPr>
          </a:p>
          <a:p>
            <a:pPr algn="ctr"/>
            <a:r>
              <a:rPr lang="en-US" altLang="ko-KR" sz="700" b="1" dirty="0">
                <a:solidFill>
                  <a:schemeClr val="tx2"/>
                </a:solidFill>
                <a:latin typeface="+mn-ea"/>
              </a:rPr>
              <a:t>C=C</a:t>
            </a:r>
            <a:endParaRPr lang="ko-KR" altLang="en-US" sz="7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D94534-2A2D-4CD9-A593-30443E18D57F}"/>
              </a:ext>
            </a:extLst>
          </p:cNvPr>
          <p:cNvSpPr/>
          <p:nvPr/>
        </p:nvSpPr>
        <p:spPr>
          <a:xfrm>
            <a:off x="7189403" y="838200"/>
            <a:ext cx="152399" cy="4267200"/>
          </a:xfrm>
          <a:prstGeom prst="rect">
            <a:avLst/>
          </a:prstGeom>
          <a:solidFill>
            <a:srgbClr val="4F81B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DE88B4-C346-4071-A512-E71BBBBFFACB}"/>
              </a:ext>
            </a:extLst>
          </p:cNvPr>
          <p:cNvSpPr txBox="1"/>
          <p:nvPr/>
        </p:nvSpPr>
        <p:spPr>
          <a:xfrm>
            <a:off x="7065956" y="838200"/>
            <a:ext cx="3122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b="1" dirty="0">
                <a:solidFill>
                  <a:schemeClr val="tx2"/>
                </a:solidFill>
                <a:latin typeface="+mn-ea"/>
              </a:rPr>
              <a:t>C-O</a:t>
            </a:r>
            <a:endParaRPr lang="ko-KR" altLang="en-US" sz="70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5BFA6D-2DBD-44E1-8E0C-53582EA4B5D6}"/>
              </a:ext>
            </a:extLst>
          </p:cNvPr>
          <p:cNvSpPr/>
          <p:nvPr/>
        </p:nvSpPr>
        <p:spPr>
          <a:xfrm>
            <a:off x="7378230" y="838200"/>
            <a:ext cx="89370" cy="4267200"/>
          </a:xfrm>
          <a:prstGeom prst="rect">
            <a:avLst/>
          </a:prstGeom>
          <a:solidFill>
            <a:srgbClr val="4F81B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06B343-8728-4C77-BEB1-5C68E6ADF855}"/>
              </a:ext>
            </a:extLst>
          </p:cNvPr>
          <p:cNvSpPr txBox="1"/>
          <p:nvPr/>
        </p:nvSpPr>
        <p:spPr>
          <a:xfrm>
            <a:off x="838200" y="2286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</a:t>
            </a:r>
            <a:r>
              <a:rPr lang="ko-KR" altLang="en-US" b="1" dirty="0"/>
              <a:t>전체 스펙트럼</a:t>
            </a:r>
            <a:r>
              <a:rPr lang="en-US" altLang="ko-KR" b="1" dirty="0"/>
              <a:t>_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회 측정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7F258B-7352-43CD-9CE2-F6AC2B6F810D}"/>
              </a:ext>
            </a:extLst>
          </p:cNvPr>
          <p:cNvSpPr txBox="1"/>
          <p:nvPr/>
        </p:nvSpPr>
        <p:spPr>
          <a:xfrm>
            <a:off x="1479750" y="4150229"/>
            <a:ext cx="882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chemeClr val="tx2"/>
                </a:solidFill>
                <a:latin typeface="+mn-ea"/>
              </a:rPr>
              <a:t>O-H</a:t>
            </a:r>
            <a:endParaRPr lang="ko-KR" altLang="en-US" sz="1000" b="1" dirty="0">
              <a:solidFill>
                <a:schemeClr val="tx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4300" y="-19050"/>
            <a:ext cx="9372600" cy="689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085D38-459F-4A25-A172-B7A8DF8157EB}"/>
              </a:ext>
            </a:extLst>
          </p:cNvPr>
          <p:cNvSpPr txBox="1"/>
          <p:nvPr/>
        </p:nvSpPr>
        <p:spPr>
          <a:xfrm>
            <a:off x="838200" y="2286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[ 1 ]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4300" y="-19050"/>
            <a:ext cx="9372600" cy="689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D182F1-F6CE-4546-BA2B-BDFCC52E4651}"/>
              </a:ext>
            </a:extLst>
          </p:cNvPr>
          <p:cNvSpPr txBox="1"/>
          <p:nvPr/>
        </p:nvSpPr>
        <p:spPr>
          <a:xfrm>
            <a:off x="838200" y="2286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[ 2 ]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14300" y="-19050"/>
            <a:ext cx="9372600" cy="689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805E19-9464-47A7-971E-C047F729515B}"/>
              </a:ext>
            </a:extLst>
          </p:cNvPr>
          <p:cNvSpPr txBox="1"/>
          <p:nvPr/>
        </p:nvSpPr>
        <p:spPr>
          <a:xfrm>
            <a:off x="838200" y="2286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[ 3 ]</a:t>
            </a:r>
            <a:endParaRPr lang="ko-KR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226AA7-24F9-4665-A177-498BBBE66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7152"/>
            <a:ext cx="9144000" cy="43636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841220-CEBC-45A7-A35A-5717A4C86FC9}"/>
              </a:ext>
            </a:extLst>
          </p:cNvPr>
          <p:cNvSpPr txBox="1"/>
          <p:nvPr/>
        </p:nvSpPr>
        <p:spPr>
          <a:xfrm>
            <a:off x="838200" y="2286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[ 1, 2 library</a:t>
            </a:r>
            <a:r>
              <a:rPr lang="ko-KR" altLang="en-US" b="1" dirty="0"/>
              <a:t> 검색 결과</a:t>
            </a:r>
            <a:r>
              <a:rPr lang="en-US" altLang="ko-KR" b="1" dirty="0"/>
              <a:t> 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83308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242B164-C92F-4533-94BA-076EA35AF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1694"/>
            <a:ext cx="9144000" cy="45346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23BDCE-7CC1-4EB5-8A62-21643BEF4F53}"/>
              </a:ext>
            </a:extLst>
          </p:cNvPr>
          <p:cNvSpPr txBox="1"/>
          <p:nvPr/>
        </p:nvSpPr>
        <p:spPr>
          <a:xfrm>
            <a:off x="838200" y="2286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[ 3 library</a:t>
            </a:r>
            <a:r>
              <a:rPr lang="ko-KR" altLang="en-US" b="1" dirty="0"/>
              <a:t> 검색 결과</a:t>
            </a:r>
            <a:r>
              <a:rPr lang="en-US" altLang="ko-KR" b="1" dirty="0"/>
              <a:t> ]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7058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101</Words>
  <Application>Microsoft Office PowerPoint</Application>
  <PresentationFormat>화면 슬라이드 쇼(4:3)</PresentationFormat>
  <Paragraphs>29</Paragraphs>
  <Slides>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Graph</vt:lpstr>
      <vt:lpstr>FT-IR measurement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김선혜 </cp:lastModifiedBy>
  <cp:revision>11</cp:revision>
  <dcterms:created xsi:type="dcterms:W3CDTF">2025-11-28T01:29:02Z</dcterms:created>
  <dcterms:modified xsi:type="dcterms:W3CDTF">2026-04-14T11:25:37Z</dcterms:modified>
</cp:coreProperties>
</file>