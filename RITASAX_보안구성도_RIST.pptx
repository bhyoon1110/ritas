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D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7"/>
    <p:restoredTop sz="94610"/>
  </p:normalViewPr>
  <p:slideViewPr>
    <p:cSldViewPr snapToGrid="0" snapToObjects="1">
      <p:cViewPr>
        <p:scale>
          <a:sx n="189" d="100"/>
          <a:sy n="189" d="100"/>
        </p:scale>
        <p:origin x="-539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372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A5EE5-4ED6-13A2-B560-720BC6C24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60D87-D3A0-AFBC-0B66-EC623F585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B3F03-9B76-9D48-8076-CE97225E9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DEF36-A32D-39E8-39D4-63DE744D7B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66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135" name="그룹 134"/>
          <p:cNvGrpSpPr/>
          <p:nvPr/>
        </p:nvGrpSpPr>
        <p:grpSpPr>
          <a:xfrm>
            <a:off x="365760" y="219456"/>
            <a:ext cx="512064" cy="512064"/>
            <a:chOff x="365760" y="219456"/>
            <a:chExt cx="512064" cy="512064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048" y="237744"/>
              <a:ext cx="475488" cy="475488"/>
            </a:xfrm>
            <a:prstGeom prst="rect">
              <a:avLst/>
            </a:prstGeom>
          </p:spPr>
        </p:pic>
        <p:sp>
          <p:nvSpPr>
            <p:cNvPr id="5" name="Shape 2"/>
            <p:cNvSpPr/>
            <p:nvPr/>
          </p:nvSpPr>
          <p:spPr>
            <a:xfrm>
              <a:off x="365760" y="219456"/>
              <a:ext cx="512064" cy="512064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310896"/>
              <a:ext cx="329184" cy="329184"/>
            </a:xfrm>
            <a:prstGeom prst="rect">
              <a:avLst/>
            </a:prstGeom>
          </p:spPr>
        </p:pic>
      </p:grpSp>
      <p:sp>
        <p:nvSpPr>
          <p:cNvPr id="7" name="Text 3"/>
          <p:cNvSpPr/>
          <p:nvPr/>
        </p:nvSpPr>
        <p:spPr>
          <a:xfrm>
            <a:off x="1024128" y="1463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RITAS-AX 시스템 보안 구성도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033272" y="5760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RIST 보안 점검 관점 — 사용자 · 실험PC · 태블릿망 · 엣지서버 · LIMS(RITAS) · 고객 구간별 망 / 보안 이슈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78408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i="1" dirty="0">
                <a:solidFill>
                  <a:srgbClr val="9FB6D6"/>
                </a:solidFill>
                <a:latin typeface="Malgun Gothic" pitchFamily="34" charset="0"/>
                <a:ea typeface="Malgun Gothic" pitchFamily="34" charset="-122"/>
              </a:rPr>
              <a:t>보안 구성도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1225296"/>
            <a:ext cx="6464808" cy="2670048"/>
          </a:xfrm>
          <a:prstGeom prst="roundRect">
            <a:avLst>
              <a:gd name="adj" fmla="val 3425"/>
            </a:avLst>
          </a:prstGeom>
          <a:solidFill>
            <a:srgbClr val="EAF2FB"/>
          </a:solidFill>
          <a:ln w="19050">
            <a:solidFill>
              <a:srgbClr val="9CC0E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29" name="그룹 128"/>
          <p:cNvGrpSpPr/>
          <p:nvPr/>
        </p:nvGrpSpPr>
        <p:grpSpPr>
          <a:xfrm>
            <a:off x="521208" y="1335024"/>
            <a:ext cx="1828800" cy="310896"/>
            <a:chOff x="420624" y="1335024"/>
            <a:chExt cx="1828800" cy="310896"/>
          </a:xfrm>
        </p:grpSpPr>
        <p:sp>
          <p:nvSpPr>
            <p:cNvPr id="11" name="Shape 7"/>
            <p:cNvSpPr/>
            <p:nvPr/>
          </p:nvSpPr>
          <p:spPr>
            <a:xfrm>
              <a:off x="420624" y="1335024"/>
              <a:ext cx="1828800" cy="310896"/>
            </a:xfrm>
            <a:prstGeom prst="roundRect">
              <a:avLst>
                <a:gd name="adj" fmla="val 14706"/>
              </a:avLst>
            </a:prstGeom>
            <a:solidFill>
              <a:srgbClr val="9CC0E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064" y="1389888"/>
              <a:ext cx="201168" cy="201168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731520" y="1335024"/>
              <a:ext cx="14630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323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내부망 (사내 폐쇄망)</a:t>
              </a:r>
              <a:endParaRPr lang="en-US" sz="1000" dirty="0"/>
            </a:p>
          </p:txBody>
        </p:sp>
      </p:grpSp>
      <p:sp>
        <p:nvSpPr>
          <p:cNvPr id="14" name="Shape 9"/>
          <p:cNvSpPr/>
          <p:nvPr/>
        </p:nvSpPr>
        <p:spPr>
          <a:xfrm>
            <a:off x="7340618" y="1225296"/>
            <a:ext cx="4564870" cy="2670048"/>
          </a:xfrm>
          <a:prstGeom prst="roundRect">
            <a:avLst>
              <a:gd name="adj" fmla="val 3676"/>
            </a:avLst>
          </a:prstGeom>
          <a:solidFill>
            <a:srgbClr val="FBEDE7"/>
          </a:solidFill>
          <a:ln w="19050">
            <a:solidFill>
              <a:srgbClr val="E0A98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21" name="그룹 120"/>
          <p:cNvGrpSpPr/>
          <p:nvPr/>
        </p:nvGrpSpPr>
        <p:grpSpPr>
          <a:xfrm>
            <a:off x="7495549" y="1335024"/>
            <a:ext cx="1554480" cy="310896"/>
            <a:chOff x="9389364" y="1335024"/>
            <a:chExt cx="1554480" cy="310896"/>
          </a:xfrm>
        </p:grpSpPr>
        <p:sp>
          <p:nvSpPr>
            <p:cNvPr id="15" name="Shape 10"/>
            <p:cNvSpPr/>
            <p:nvPr/>
          </p:nvSpPr>
          <p:spPr>
            <a:xfrm>
              <a:off x="9389364" y="1335024"/>
              <a:ext cx="1554480" cy="310896"/>
            </a:xfrm>
            <a:prstGeom prst="roundRect">
              <a:avLst>
                <a:gd name="adj" fmla="val 14706"/>
              </a:avLst>
            </a:prstGeom>
            <a:solidFill>
              <a:srgbClr val="E0A98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1"/>
            <p:cNvSpPr/>
            <p:nvPr/>
          </p:nvSpPr>
          <p:spPr>
            <a:xfrm>
              <a:off x="9683496" y="1335024"/>
              <a:ext cx="108813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B341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DMZ</a:t>
              </a:r>
              <a:endParaRPr lang="en-US" sz="1000" dirty="0"/>
            </a:p>
          </p:txBody>
        </p:sp>
      </p:grpSp>
      <p:grpSp>
        <p:nvGrpSpPr>
          <p:cNvPr id="120" name="그룹 119"/>
          <p:cNvGrpSpPr/>
          <p:nvPr/>
        </p:nvGrpSpPr>
        <p:grpSpPr>
          <a:xfrm>
            <a:off x="6832883" y="1207008"/>
            <a:ext cx="402336" cy="2569464"/>
            <a:chOff x="8897112" y="1207008"/>
            <a:chExt cx="402336" cy="2706624"/>
          </a:xfrm>
        </p:grpSpPr>
        <p:sp>
          <p:nvSpPr>
            <p:cNvPr id="18" name="Shape 13"/>
            <p:cNvSpPr/>
            <p:nvPr/>
          </p:nvSpPr>
          <p:spPr>
            <a:xfrm>
              <a:off x="8897112" y="2359152"/>
              <a:ext cx="402336" cy="402336"/>
            </a:xfrm>
            <a:prstGeom prst="ellipse">
              <a:avLst/>
            </a:prstGeom>
            <a:solidFill>
              <a:srgbClr val="B91C1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2"/>
            <p:cNvSpPr/>
            <p:nvPr/>
          </p:nvSpPr>
          <p:spPr>
            <a:xfrm>
              <a:off x="9098280" y="1207008"/>
              <a:ext cx="0" cy="2706624"/>
            </a:xfrm>
            <a:prstGeom prst="line">
              <a:avLst/>
            </a:prstGeom>
            <a:noFill/>
            <a:ln w="28575">
              <a:solidFill>
                <a:srgbClr val="B91C1C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74836" y="2436876"/>
              <a:ext cx="246888" cy="246888"/>
            </a:xfrm>
            <a:prstGeom prst="rect">
              <a:avLst/>
            </a:prstGeom>
          </p:spPr>
        </p:pic>
      </p:grpSp>
      <p:sp>
        <p:nvSpPr>
          <p:cNvPr id="20" name="Text 14"/>
          <p:cNvSpPr/>
          <p:nvPr/>
        </p:nvSpPr>
        <p:spPr>
          <a:xfrm>
            <a:off x="6260440" y="38770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 경계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 / 망분리</a:t>
            </a:r>
            <a:endParaRPr lang="en-US" sz="850" dirty="0"/>
          </a:p>
        </p:txBody>
      </p:sp>
      <p:grpSp>
        <p:nvGrpSpPr>
          <p:cNvPr id="114" name="그룹 113"/>
          <p:cNvGrpSpPr/>
          <p:nvPr/>
        </p:nvGrpSpPr>
        <p:grpSpPr>
          <a:xfrm>
            <a:off x="521208" y="2331720"/>
            <a:ext cx="1426464" cy="1078992"/>
            <a:chOff x="521208" y="2331720"/>
            <a:chExt cx="1426464" cy="1078992"/>
          </a:xfrm>
        </p:grpSpPr>
        <p:sp>
          <p:nvSpPr>
            <p:cNvPr id="21" name="Shape 15"/>
            <p:cNvSpPr/>
            <p:nvPr/>
          </p:nvSpPr>
          <p:spPr>
            <a:xfrm>
              <a:off x="566928" y="2331720"/>
              <a:ext cx="1335024" cy="1078992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5875">
              <a:solidFill>
                <a:srgbClr val="1E3A66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16"/>
            <p:cNvSpPr/>
            <p:nvPr/>
          </p:nvSpPr>
          <p:spPr>
            <a:xfrm>
              <a:off x="932688" y="2441448"/>
              <a:ext cx="603504" cy="603504"/>
            </a:xfrm>
            <a:prstGeom prst="ellipse">
              <a:avLst/>
            </a:prstGeom>
            <a:solidFill>
              <a:srgbClr val="1E3A6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3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1560" y="2560320"/>
              <a:ext cx="365760" cy="365760"/>
            </a:xfrm>
            <a:prstGeom prst="rect">
              <a:avLst/>
            </a:prstGeom>
          </p:spPr>
        </p:pic>
        <p:sp>
          <p:nvSpPr>
            <p:cNvPr id="24" name="Text 17"/>
            <p:cNvSpPr/>
            <p:nvPr/>
          </p:nvSpPr>
          <p:spPr>
            <a:xfrm>
              <a:off x="521208" y="3044952"/>
              <a:ext cx="142646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323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사용자</a:t>
              </a:r>
              <a:endParaRPr lang="en-US" sz="1050" dirty="0"/>
            </a:p>
          </p:txBody>
        </p:sp>
        <p:sp>
          <p:nvSpPr>
            <p:cNvPr id="25" name="Text 18"/>
            <p:cNvSpPr/>
            <p:nvPr/>
          </p:nvSpPr>
          <p:spPr>
            <a:xfrm>
              <a:off x="521208" y="3246120"/>
              <a:ext cx="14264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8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실험자 / 운영자</a:t>
              </a:r>
              <a:endParaRPr lang="en-US" sz="780" dirty="0"/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2286000" y="2331720"/>
            <a:ext cx="1426464" cy="1444752"/>
            <a:chOff x="2286000" y="2331720"/>
            <a:chExt cx="1426464" cy="1444752"/>
          </a:xfrm>
        </p:grpSpPr>
        <p:sp>
          <p:nvSpPr>
            <p:cNvPr id="26" name="Shape 19"/>
            <p:cNvSpPr/>
            <p:nvPr/>
          </p:nvSpPr>
          <p:spPr>
            <a:xfrm>
              <a:off x="2331720" y="2331720"/>
              <a:ext cx="1335024" cy="1078992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5875">
              <a:solidFill>
                <a:srgbClr val="2563EB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0"/>
            <p:cNvSpPr/>
            <p:nvPr/>
          </p:nvSpPr>
          <p:spPr>
            <a:xfrm>
              <a:off x="2697480" y="2441448"/>
              <a:ext cx="603504" cy="603504"/>
            </a:xfrm>
            <a:prstGeom prst="ellipse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8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16352" y="2560320"/>
              <a:ext cx="365760" cy="365760"/>
            </a:xfrm>
            <a:prstGeom prst="rect">
              <a:avLst/>
            </a:prstGeom>
          </p:spPr>
        </p:pic>
        <p:sp>
          <p:nvSpPr>
            <p:cNvPr id="29" name="Text 21"/>
            <p:cNvSpPr/>
            <p:nvPr/>
          </p:nvSpPr>
          <p:spPr>
            <a:xfrm>
              <a:off x="2286000" y="3044952"/>
              <a:ext cx="142646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323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실험PC</a:t>
              </a:r>
              <a:endParaRPr lang="en-US" sz="1050" dirty="0"/>
            </a:p>
          </p:txBody>
        </p:sp>
        <p:sp>
          <p:nvSpPr>
            <p:cNvPr id="30" name="Text 22"/>
            <p:cNvSpPr/>
            <p:nvPr/>
          </p:nvSpPr>
          <p:spPr>
            <a:xfrm>
              <a:off x="2286000" y="3246120"/>
              <a:ext cx="14264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8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Native App(C#)</a:t>
              </a:r>
              <a:endParaRPr lang="en-US" sz="780" dirty="0"/>
            </a:p>
          </p:txBody>
        </p:sp>
        <p:sp>
          <p:nvSpPr>
            <p:cNvPr id="31" name="Shape 23"/>
            <p:cNvSpPr/>
            <p:nvPr/>
          </p:nvSpPr>
          <p:spPr>
            <a:xfrm>
              <a:off x="2450592" y="3465576"/>
              <a:ext cx="1097280" cy="310896"/>
            </a:xfrm>
            <a:prstGeom prst="roundRect">
              <a:avLst>
                <a:gd name="adj" fmla="val 14706"/>
              </a:avLst>
            </a:prstGeom>
            <a:solidFill>
              <a:srgbClr val="F1F5F9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2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32888" y="3520440"/>
              <a:ext cx="201168" cy="201168"/>
            </a:xfrm>
            <a:prstGeom prst="rect">
              <a:avLst/>
            </a:prstGeom>
          </p:spPr>
        </p:pic>
        <p:sp>
          <p:nvSpPr>
            <p:cNvPr id="33" name="Text 24"/>
            <p:cNvSpPr/>
            <p:nvPr/>
          </p:nvSpPr>
          <p:spPr>
            <a:xfrm>
              <a:off x="2752344" y="3465576"/>
              <a:ext cx="83210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실험장비</a:t>
              </a:r>
              <a:endParaRPr lang="en-US" sz="850" dirty="0"/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4531340" y="2331720"/>
            <a:ext cx="1426464" cy="1078992"/>
            <a:chOff x="5029200" y="2331720"/>
            <a:chExt cx="1426464" cy="1078992"/>
          </a:xfrm>
        </p:grpSpPr>
        <p:sp>
          <p:nvSpPr>
            <p:cNvPr id="34" name="Shape 25"/>
            <p:cNvSpPr/>
            <p:nvPr/>
          </p:nvSpPr>
          <p:spPr>
            <a:xfrm>
              <a:off x="5074920" y="2331720"/>
              <a:ext cx="1335024" cy="1078992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5875">
              <a:solidFill>
                <a:srgbClr val="0E7490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26"/>
            <p:cNvSpPr/>
            <p:nvPr/>
          </p:nvSpPr>
          <p:spPr>
            <a:xfrm>
              <a:off x="5440680" y="2441448"/>
              <a:ext cx="603504" cy="603504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6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59552" y="2560320"/>
              <a:ext cx="365760" cy="365760"/>
            </a:xfrm>
            <a:prstGeom prst="rect">
              <a:avLst/>
            </a:prstGeom>
          </p:spPr>
        </p:pic>
        <p:sp>
          <p:nvSpPr>
            <p:cNvPr id="37" name="Text 27"/>
            <p:cNvSpPr/>
            <p:nvPr/>
          </p:nvSpPr>
          <p:spPr>
            <a:xfrm>
              <a:off x="5029200" y="3044952"/>
              <a:ext cx="142646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323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엣지서버</a:t>
              </a:r>
              <a:endParaRPr lang="en-US" sz="1050" dirty="0"/>
            </a:p>
          </p:txBody>
        </p:sp>
        <p:sp>
          <p:nvSpPr>
            <p:cNvPr id="38" name="Text 28"/>
            <p:cNvSpPr/>
            <p:nvPr/>
          </p:nvSpPr>
          <p:spPr>
            <a:xfrm>
              <a:off x="5029200" y="3246120"/>
              <a:ext cx="14264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8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EDGE / Spring</a:t>
              </a:r>
              <a:endParaRPr lang="en-US" sz="780" dirty="0"/>
            </a:p>
          </p:txBody>
        </p:sp>
      </p:grpSp>
      <p:grpSp>
        <p:nvGrpSpPr>
          <p:cNvPr id="127" name="그룹 126"/>
          <p:cNvGrpSpPr/>
          <p:nvPr/>
        </p:nvGrpSpPr>
        <p:grpSpPr>
          <a:xfrm>
            <a:off x="4602830" y="1594104"/>
            <a:ext cx="1234440" cy="420624"/>
            <a:chOff x="5129784" y="1389888"/>
            <a:chExt cx="1234440" cy="420624"/>
          </a:xfrm>
        </p:grpSpPr>
        <p:sp>
          <p:nvSpPr>
            <p:cNvPr id="39" name="Shape 29"/>
            <p:cNvSpPr/>
            <p:nvPr/>
          </p:nvSpPr>
          <p:spPr>
            <a:xfrm>
              <a:off x="5129784" y="1389888"/>
              <a:ext cx="1225296" cy="420624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2700">
              <a:solidFill>
                <a:srgbClr val="0E7490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0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212080" y="1472184"/>
              <a:ext cx="256032" cy="256032"/>
            </a:xfrm>
            <a:prstGeom prst="rect">
              <a:avLst/>
            </a:prstGeom>
          </p:spPr>
        </p:pic>
        <p:sp>
          <p:nvSpPr>
            <p:cNvPr id="41" name="Text 30"/>
            <p:cNvSpPr/>
            <p:nvPr/>
          </p:nvSpPr>
          <p:spPr>
            <a:xfrm>
              <a:off x="5486400" y="1389888"/>
              <a:ext cx="8778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0000"/>
                </a:lnSpc>
                <a:buNone/>
              </a:pPr>
              <a:r>
                <a:rPr lang="en-US" sz="76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Servlet/LLM</a:t>
              </a:r>
              <a:endParaRPr lang="en-US" sz="760" dirty="0"/>
            </a:p>
            <a:p>
              <a:pPr marL="0" indent="0">
                <a:lnSpc>
                  <a:spcPct val="90000"/>
                </a:lnSpc>
                <a:buNone/>
              </a:pPr>
              <a:r>
                <a:rPr lang="en-US" sz="76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(Python)</a:t>
              </a:r>
              <a:endParaRPr lang="en-US" sz="760" dirty="0"/>
            </a:p>
          </p:txBody>
        </p:sp>
      </p:grpSp>
      <p:sp>
        <p:nvSpPr>
          <p:cNvPr id="42" name="Shape 31"/>
          <p:cNvSpPr/>
          <p:nvPr/>
        </p:nvSpPr>
        <p:spPr>
          <a:xfrm>
            <a:off x="5427452" y="2014728"/>
            <a:ext cx="0" cy="316992"/>
          </a:xfrm>
          <a:prstGeom prst="line">
            <a:avLst/>
          </a:prstGeom>
          <a:noFill/>
          <a:ln w="12700">
            <a:solidFill>
              <a:srgbClr val="0E749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7" name="그룹 116"/>
          <p:cNvGrpSpPr/>
          <p:nvPr/>
        </p:nvGrpSpPr>
        <p:grpSpPr>
          <a:xfrm>
            <a:off x="7526488" y="2514600"/>
            <a:ext cx="1426464" cy="1078992"/>
            <a:chOff x="7315200" y="2331720"/>
            <a:chExt cx="1426464" cy="1078992"/>
          </a:xfrm>
        </p:grpSpPr>
        <p:sp>
          <p:nvSpPr>
            <p:cNvPr id="43" name="Shape 32"/>
            <p:cNvSpPr/>
            <p:nvPr/>
          </p:nvSpPr>
          <p:spPr>
            <a:xfrm>
              <a:off x="7360920" y="2331720"/>
              <a:ext cx="1335024" cy="1078992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5875">
              <a:solidFill>
                <a:srgbClr val="1E3A66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33"/>
            <p:cNvSpPr/>
            <p:nvPr/>
          </p:nvSpPr>
          <p:spPr>
            <a:xfrm>
              <a:off x="7726680" y="2441448"/>
              <a:ext cx="603504" cy="603504"/>
            </a:xfrm>
            <a:prstGeom prst="ellipse">
              <a:avLst/>
            </a:prstGeom>
            <a:solidFill>
              <a:srgbClr val="1E3A6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5" name="Image 9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845552" y="2560320"/>
              <a:ext cx="365760" cy="365760"/>
            </a:xfrm>
            <a:prstGeom prst="rect">
              <a:avLst/>
            </a:prstGeom>
          </p:spPr>
        </p:pic>
        <p:sp>
          <p:nvSpPr>
            <p:cNvPr id="46" name="Text 34"/>
            <p:cNvSpPr/>
            <p:nvPr/>
          </p:nvSpPr>
          <p:spPr>
            <a:xfrm>
              <a:off x="7315200" y="3044952"/>
              <a:ext cx="142646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323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LIMS (RITAS)</a:t>
              </a:r>
              <a:endParaRPr lang="en-US" sz="1050" dirty="0"/>
            </a:p>
          </p:txBody>
        </p:sp>
        <p:sp>
          <p:nvSpPr>
            <p:cNvPr id="47" name="Text 35"/>
            <p:cNvSpPr/>
            <p:nvPr/>
          </p:nvSpPr>
          <p:spPr>
            <a:xfrm>
              <a:off x="7315200" y="3246120"/>
              <a:ext cx="14264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8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DB / SFTP</a:t>
              </a:r>
              <a:endParaRPr lang="en-US" sz="780" dirty="0"/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10265176" y="2449068"/>
            <a:ext cx="1426464" cy="1078992"/>
            <a:chOff x="10058400" y="2331720"/>
            <a:chExt cx="1426464" cy="1078992"/>
          </a:xfrm>
        </p:grpSpPr>
        <p:sp>
          <p:nvSpPr>
            <p:cNvPr id="48" name="Shape 36"/>
            <p:cNvSpPr/>
            <p:nvPr/>
          </p:nvSpPr>
          <p:spPr>
            <a:xfrm>
              <a:off x="10104120" y="2331720"/>
              <a:ext cx="1335024" cy="1078992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5875">
              <a:solidFill>
                <a:srgbClr val="B45309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37"/>
            <p:cNvSpPr/>
            <p:nvPr/>
          </p:nvSpPr>
          <p:spPr>
            <a:xfrm>
              <a:off x="10469880" y="2441448"/>
              <a:ext cx="603504" cy="603504"/>
            </a:xfrm>
            <a:prstGeom prst="ellipse">
              <a:avLst/>
            </a:prstGeom>
            <a:solidFill>
              <a:srgbClr val="B4530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0" name="Image 10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588752" y="2560320"/>
              <a:ext cx="365760" cy="365760"/>
            </a:xfrm>
            <a:prstGeom prst="rect">
              <a:avLst/>
            </a:prstGeom>
          </p:spPr>
        </p:pic>
        <p:sp>
          <p:nvSpPr>
            <p:cNvPr id="51" name="Text 38"/>
            <p:cNvSpPr/>
            <p:nvPr/>
          </p:nvSpPr>
          <p:spPr>
            <a:xfrm>
              <a:off x="10058400" y="3044952"/>
              <a:ext cx="142646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323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고객</a:t>
              </a:r>
              <a:endParaRPr lang="en-US" sz="1050" dirty="0"/>
            </a:p>
          </p:txBody>
        </p:sp>
        <p:sp>
          <p:nvSpPr>
            <p:cNvPr id="52" name="Text 39"/>
            <p:cNvSpPr/>
            <p:nvPr/>
          </p:nvSpPr>
          <p:spPr>
            <a:xfrm>
              <a:off x="10058400" y="3246120"/>
              <a:ext cx="14264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8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결과 보고 수신</a:t>
              </a:r>
              <a:endParaRPr lang="en-US" sz="780" dirty="0"/>
            </a:p>
          </p:txBody>
        </p:sp>
      </p:grpSp>
      <p:sp>
        <p:nvSpPr>
          <p:cNvPr id="57" name="Shape 43"/>
          <p:cNvSpPr/>
          <p:nvPr/>
        </p:nvSpPr>
        <p:spPr>
          <a:xfrm>
            <a:off x="1901952" y="2843784"/>
            <a:ext cx="429768" cy="0"/>
          </a:xfrm>
          <a:prstGeom prst="line">
            <a:avLst/>
          </a:prstGeom>
          <a:noFill/>
          <a:ln w="28575">
            <a:solidFill>
              <a:srgbClr val="1E3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4"/>
          <p:cNvSpPr/>
          <p:nvPr/>
        </p:nvSpPr>
        <p:spPr>
          <a:xfrm>
            <a:off x="3666744" y="2843784"/>
            <a:ext cx="886968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5"/>
          <p:cNvSpPr/>
          <p:nvPr/>
        </p:nvSpPr>
        <p:spPr>
          <a:xfrm>
            <a:off x="3720435" y="25694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유선 내부망</a:t>
            </a:r>
            <a:endParaRPr lang="en-US" sz="800" dirty="0"/>
          </a:p>
        </p:txBody>
      </p:sp>
      <p:sp>
        <p:nvSpPr>
          <p:cNvPr id="60" name="Shape 46"/>
          <p:cNvSpPr/>
          <p:nvPr/>
        </p:nvSpPr>
        <p:spPr>
          <a:xfrm>
            <a:off x="6080760" y="2843784"/>
            <a:ext cx="1431768" cy="0"/>
          </a:xfrm>
          <a:prstGeom prst="line">
            <a:avLst/>
          </a:prstGeom>
          <a:noFill/>
          <a:ln w="28575">
            <a:solidFill>
              <a:srgbClr val="0E749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47"/>
          <p:cNvSpPr/>
          <p:nvPr/>
        </p:nvSpPr>
        <p:spPr>
          <a:xfrm>
            <a:off x="5849514" y="25694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/ SFTP</a:t>
            </a:r>
            <a:r>
              <a:rPr lang="ko-KR" altLang="en-US" sz="8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8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8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8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800" dirty="0"/>
          </a:p>
        </p:txBody>
      </p:sp>
      <p:sp>
        <p:nvSpPr>
          <p:cNvPr id="62" name="Shape 48"/>
          <p:cNvSpPr/>
          <p:nvPr/>
        </p:nvSpPr>
        <p:spPr>
          <a:xfrm>
            <a:off x="8991784" y="3086100"/>
            <a:ext cx="1154519" cy="4572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9"/>
          <p:cNvSpPr/>
          <p:nvPr/>
        </p:nvSpPr>
        <p:spPr>
          <a:xfrm>
            <a:off x="9130131" y="280720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보고</a:t>
            </a:r>
            <a:endParaRPr lang="en-US" sz="800" dirty="0"/>
          </a:p>
        </p:txBody>
      </p:sp>
      <p:sp>
        <p:nvSpPr>
          <p:cNvPr id="64" name="Shape 50"/>
          <p:cNvSpPr/>
          <p:nvPr/>
        </p:nvSpPr>
        <p:spPr>
          <a:xfrm flipH="1" flipV="1">
            <a:off x="10432728" y="1965960"/>
            <a:ext cx="677691" cy="41148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24" name="그룹 123"/>
          <p:cNvGrpSpPr/>
          <p:nvPr/>
        </p:nvGrpSpPr>
        <p:grpSpPr>
          <a:xfrm>
            <a:off x="9204960" y="1408176"/>
            <a:ext cx="1143000" cy="786384"/>
            <a:chOff x="9204960" y="1408176"/>
            <a:chExt cx="1143000" cy="786384"/>
          </a:xfrm>
        </p:grpSpPr>
        <p:sp>
          <p:nvSpPr>
            <p:cNvPr id="53" name="Shape 40"/>
            <p:cNvSpPr/>
            <p:nvPr/>
          </p:nvSpPr>
          <p:spPr>
            <a:xfrm>
              <a:off x="9204960" y="1408176"/>
              <a:ext cx="1143000" cy="786384"/>
            </a:xfrm>
            <a:prstGeom prst="roundRect">
              <a:avLst>
                <a:gd name="adj" fmla="val 8140"/>
              </a:avLst>
            </a:prstGeom>
            <a:solidFill>
              <a:srgbClr val="F3ECFB"/>
            </a:solidFill>
            <a:ln w="15875">
              <a:solidFill>
                <a:srgbClr val="B9A0D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4" name="Image 11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625584" y="1499616"/>
              <a:ext cx="292608" cy="292608"/>
            </a:xfrm>
            <a:prstGeom prst="rect">
              <a:avLst/>
            </a:prstGeom>
          </p:spPr>
        </p:pic>
        <p:sp>
          <p:nvSpPr>
            <p:cNvPr id="55" name="Text 41"/>
            <p:cNvSpPr/>
            <p:nvPr/>
          </p:nvSpPr>
          <p:spPr>
            <a:xfrm>
              <a:off x="9204960" y="1810512"/>
              <a:ext cx="1143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5B21B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태블릿</a:t>
              </a:r>
              <a:endParaRPr lang="en-US" sz="950" dirty="0"/>
            </a:p>
          </p:txBody>
        </p:sp>
        <p:sp>
          <p:nvSpPr>
            <p:cNvPr id="56" name="Text 42"/>
            <p:cNvSpPr/>
            <p:nvPr/>
          </p:nvSpPr>
          <p:spPr>
            <a:xfrm>
              <a:off x="9204960" y="1984248"/>
              <a:ext cx="1143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80" dirty="0">
                  <a:solidFill>
                    <a:srgbClr val="6D28D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WiFi 전용</a:t>
              </a:r>
              <a:endParaRPr lang="en-US" sz="780" dirty="0"/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10146304" y="1371600"/>
            <a:ext cx="731520" cy="384048"/>
            <a:chOff x="10146304" y="1371600"/>
            <a:chExt cx="731520" cy="384048"/>
          </a:xfrm>
        </p:grpSpPr>
        <p:pic>
          <p:nvPicPr>
            <p:cNvPr id="65" name="Image 12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393680" y="1517904"/>
              <a:ext cx="237744" cy="237744"/>
            </a:xfrm>
            <a:prstGeom prst="rect">
              <a:avLst/>
            </a:prstGeom>
          </p:spPr>
        </p:pic>
        <p:sp>
          <p:nvSpPr>
            <p:cNvPr id="66" name="Text 51"/>
            <p:cNvSpPr/>
            <p:nvPr/>
          </p:nvSpPr>
          <p:spPr>
            <a:xfrm>
              <a:off x="10146304" y="1371600"/>
              <a:ext cx="7315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7C3AE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WiFi</a:t>
              </a:r>
              <a:endParaRPr lang="en-US" sz="800" dirty="0"/>
            </a:p>
          </p:txBody>
        </p:sp>
      </p:grpSp>
      <p:sp>
        <p:nvSpPr>
          <p:cNvPr id="67" name="Shape 52"/>
          <p:cNvSpPr/>
          <p:nvPr/>
        </p:nvSpPr>
        <p:spPr>
          <a:xfrm>
            <a:off x="1970532" y="2990088"/>
            <a:ext cx="292608" cy="292608"/>
          </a:xfrm>
          <a:prstGeom prst="ellipse">
            <a:avLst/>
          </a:prstGeom>
          <a:solidFill>
            <a:srgbClr val="1E3A6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3"/>
          <p:cNvSpPr/>
          <p:nvPr/>
        </p:nvSpPr>
        <p:spPr>
          <a:xfrm>
            <a:off x="1970532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69" name="Shape 54"/>
          <p:cNvSpPr/>
          <p:nvPr/>
        </p:nvSpPr>
        <p:spPr>
          <a:xfrm>
            <a:off x="4005560" y="2990088"/>
            <a:ext cx="292608" cy="29260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5"/>
          <p:cNvSpPr/>
          <p:nvPr/>
        </p:nvSpPr>
        <p:spPr>
          <a:xfrm>
            <a:off x="400556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grpSp>
        <p:nvGrpSpPr>
          <p:cNvPr id="128" name="그룹 127"/>
          <p:cNvGrpSpPr/>
          <p:nvPr/>
        </p:nvGrpSpPr>
        <p:grpSpPr>
          <a:xfrm>
            <a:off x="9541216" y="2246376"/>
            <a:ext cx="292608" cy="292608"/>
            <a:chOff x="5029200" y="1865376"/>
            <a:chExt cx="292608" cy="292608"/>
          </a:xfrm>
        </p:grpSpPr>
        <p:sp>
          <p:nvSpPr>
            <p:cNvPr id="71" name="Shape 56"/>
            <p:cNvSpPr/>
            <p:nvPr/>
          </p:nvSpPr>
          <p:spPr>
            <a:xfrm>
              <a:off x="5029200" y="1865376"/>
              <a:ext cx="292608" cy="292608"/>
            </a:xfrm>
            <a:prstGeom prst="ellipse">
              <a:avLst/>
            </a:prstGeom>
            <a:solidFill>
              <a:srgbClr val="7C3AED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 57"/>
            <p:cNvSpPr/>
            <p:nvPr/>
          </p:nvSpPr>
          <p:spPr>
            <a:xfrm>
              <a:off x="5029200" y="186537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5</a:t>
              </a:r>
              <a:endParaRPr lang="en-US" sz="1100" dirty="0"/>
            </a:p>
          </p:txBody>
        </p:sp>
      </p:grpSp>
      <p:sp>
        <p:nvSpPr>
          <p:cNvPr id="73" name="Shape 58"/>
          <p:cNvSpPr/>
          <p:nvPr/>
        </p:nvSpPr>
        <p:spPr>
          <a:xfrm>
            <a:off x="6502907" y="2990088"/>
            <a:ext cx="292608" cy="292608"/>
          </a:xfrm>
          <a:prstGeom prst="ellipse">
            <a:avLst/>
          </a:prstGeom>
          <a:solidFill>
            <a:srgbClr val="0E749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59"/>
          <p:cNvSpPr/>
          <p:nvPr/>
        </p:nvSpPr>
        <p:spPr>
          <a:xfrm>
            <a:off x="6502907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grpSp>
        <p:nvGrpSpPr>
          <p:cNvPr id="123" name="그룹 122"/>
          <p:cNvGrpSpPr/>
          <p:nvPr/>
        </p:nvGrpSpPr>
        <p:grpSpPr>
          <a:xfrm>
            <a:off x="9456664" y="3299460"/>
            <a:ext cx="292608" cy="292608"/>
            <a:chOff x="9253728" y="2990088"/>
            <a:chExt cx="292608" cy="292608"/>
          </a:xfrm>
        </p:grpSpPr>
        <p:sp>
          <p:nvSpPr>
            <p:cNvPr id="75" name="Shape 60"/>
            <p:cNvSpPr/>
            <p:nvPr/>
          </p:nvSpPr>
          <p:spPr>
            <a:xfrm>
              <a:off x="9253728" y="2990088"/>
              <a:ext cx="292608" cy="292608"/>
            </a:xfrm>
            <a:prstGeom prst="ellipse">
              <a:avLst/>
            </a:prstGeom>
            <a:solidFill>
              <a:srgbClr val="B45309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 61"/>
            <p:cNvSpPr/>
            <p:nvPr/>
          </p:nvSpPr>
          <p:spPr>
            <a:xfrm>
              <a:off x="9253728" y="2990088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</a:t>
              </a:r>
              <a:endParaRPr lang="en-US" sz="11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310896" y="4224528"/>
            <a:ext cx="2211568" cy="2359152"/>
            <a:chOff x="310896" y="4224528"/>
            <a:chExt cx="2211568" cy="2359152"/>
          </a:xfrm>
        </p:grpSpPr>
        <p:sp>
          <p:nvSpPr>
            <p:cNvPr id="77" name="Shape 62"/>
            <p:cNvSpPr/>
            <p:nvPr/>
          </p:nvSpPr>
          <p:spPr>
            <a:xfrm>
              <a:off x="310896" y="4224528"/>
              <a:ext cx="2211568" cy="2359152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Shape 63"/>
            <p:cNvSpPr/>
            <p:nvPr/>
          </p:nvSpPr>
          <p:spPr>
            <a:xfrm>
              <a:off x="310896" y="4224528"/>
              <a:ext cx="2211568" cy="566928"/>
            </a:xfrm>
            <a:prstGeom prst="rect">
              <a:avLst/>
            </a:prstGeom>
            <a:solidFill>
              <a:srgbClr val="1E3A6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Shape 64"/>
            <p:cNvSpPr/>
            <p:nvPr/>
          </p:nvSpPr>
          <p:spPr>
            <a:xfrm>
              <a:off x="310896" y="4279392"/>
              <a:ext cx="365760" cy="36576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 65"/>
            <p:cNvSpPr/>
            <p:nvPr/>
          </p:nvSpPr>
          <p:spPr>
            <a:xfrm>
              <a:off x="310896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500" dirty="0"/>
            </a:p>
          </p:txBody>
        </p:sp>
        <p:sp>
          <p:nvSpPr>
            <p:cNvPr id="81" name="Text 66"/>
            <p:cNvSpPr/>
            <p:nvPr/>
          </p:nvSpPr>
          <p:spPr>
            <a:xfrm>
              <a:off x="694944" y="4279392"/>
              <a:ext cx="177265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사용자 ↔ 실험PC</a:t>
              </a:r>
              <a:endParaRPr lang="en-US" sz="1050" dirty="0"/>
            </a:p>
          </p:txBody>
        </p:sp>
        <p:sp>
          <p:nvSpPr>
            <p:cNvPr id="82" name="Text 67"/>
            <p:cNvSpPr/>
            <p:nvPr/>
          </p:nvSpPr>
          <p:spPr>
            <a:xfrm>
              <a:off x="694944" y="4535424"/>
              <a:ext cx="17726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E6EEF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단말 접근</a:t>
              </a:r>
              <a:endParaRPr lang="en-US" sz="800" dirty="0"/>
            </a:p>
          </p:txBody>
        </p:sp>
        <p:sp>
          <p:nvSpPr>
            <p:cNvPr id="83" name="Text 68"/>
            <p:cNvSpPr/>
            <p:nvPr/>
          </p:nvSpPr>
          <p:spPr>
            <a:xfrm>
              <a:off x="420624" y="4882896"/>
              <a:ext cx="1992112" cy="1609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실험자 개별 계정·인증(2FA) / 권한 최소화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잠금·세션 타임아웃 / 접속 이력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USB·외부매체 통제, 백신·패치 관리</a:t>
              </a:r>
              <a:endParaRPr lang="en-US" sz="860" dirty="0"/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2650480" y="4224528"/>
            <a:ext cx="2211568" cy="2359152"/>
            <a:chOff x="2650480" y="4224528"/>
            <a:chExt cx="2211568" cy="2359152"/>
          </a:xfrm>
        </p:grpSpPr>
        <p:sp>
          <p:nvSpPr>
            <p:cNvPr id="84" name="Shape 69"/>
            <p:cNvSpPr/>
            <p:nvPr/>
          </p:nvSpPr>
          <p:spPr>
            <a:xfrm>
              <a:off x="2650480" y="4224528"/>
              <a:ext cx="2211568" cy="2359152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Shape 70"/>
            <p:cNvSpPr/>
            <p:nvPr/>
          </p:nvSpPr>
          <p:spPr>
            <a:xfrm>
              <a:off x="2650480" y="4224528"/>
              <a:ext cx="2211568" cy="566928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Shape 71"/>
            <p:cNvSpPr/>
            <p:nvPr/>
          </p:nvSpPr>
          <p:spPr>
            <a:xfrm>
              <a:off x="2650480" y="4279392"/>
              <a:ext cx="365760" cy="36576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Text 72"/>
            <p:cNvSpPr/>
            <p:nvPr/>
          </p:nvSpPr>
          <p:spPr>
            <a:xfrm>
              <a:off x="2650480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563E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500" dirty="0"/>
            </a:p>
          </p:txBody>
        </p:sp>
        <p:sp>
          <p:nvSpPr>
            <p:cNvPr id="88" name="Text 73"/>
            <p:cNvSpPr/>
            <p:nvPr/>
          </p:nvSpPr>
          <p:spPr>
            <a:xfrm>
              <a:off x="3034528" y="4279392"/>
              <a:ext cx="177265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실험PC → 엣지서버</a:t>
              </a:r>
              <a:endParaRPr lang="en-US" sz="1050" dirty="0"/>
            </a:p>
          </p:txBody>
        </p:sp>
        <p:sp>
          <p:nvSpPr>
            <p:cNvPr id="89" name="Text 74"/>
            <p:cNvSpPr/>
            <p:nvPr/>
          </p:nvSpPr>
          <p:spPr>
            <a:xfrm>
              <a:off x="3034528" y="4535424"/>
              <a:ext cx="17726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E6EEF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유선 내부망</a:t>
              </a:r>
              <a:endParaRPr lang="en-US" sz="800" dirty="0"/>
            </a:p>
          </p:txBody>
        </p:sp>
        <p:sp>
          <p:nvSpPr>
            <p:cNvPr id="90" name="Text 75"/>
            <p:cNvSpPr/>
            <p:nvPr/>
          </p:nvSpPr>
          <p:spPr>
            <a:xfrm>
              <a:off x="2760208" y="4882896"/>
              <a:ext cx="1992112" cy="1609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장비~PC raw파일 전송 무결성·위변조 점검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내부망 접근통제(IP/Port 화이트리스트)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구간 암호화(TLS) 및 악성코드 차단</a:t>
              </a:r>
              <a:endParaRPr lang="en-US" sz="860" dirty="0"/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9673759" y="4224528"/>
            <a:ext cx="2211568" cy="2359152"/>
            <a:chOff x="4990064" y="4224528"/>
            <a:chExt cx="2211568" cy="2359152"/>
          </a:xfrm>
        </p:grpSpPr>
        <p:sp>
          <p:nvSpPr>
            <p:cNvPr id="91" name="Shape 76"/>
            <p:cNvSpPr/>
            <p:nvPr/>
          </p:nvSpPr>
          <p:spPr>
            <a:xfrm>
              <a:off x="4990064" y="4224528"/>
              <a:ext cx="2211568" cy="2359152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2" name="Shape 77"/>
            <p:cNvSpPr/>
            <p:nvPr/>
          </p:nvSpPr>
          <p:spPr>
            <a:xfrm>
              <a:off x="4990064" y="4224528"/>
              <a:ext cx="2211568" cy="566928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3" name="Shape 78"/>
            <p:cNvSpPr/>
            <p:nvPr/>
          </p:nvSpPr>
          <p:spPr>
            <a:xfrm>
              <a:off x="4990064" y="4279392"/>
              <a:ext cx="365760" cy="36576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Text 79"/>
            <p:cNvSpPr/>
            <p:nvPr/>
          </p:nvSpPr>
          <p:spPr>
            <a:xfrm>
              <a:off x="4990064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7C3AED"/>
                  </a:solidFill>
                  <a:latin typeface="Malgun Gothic" pitchFamily="34" charset="0"/>
                  <a:ea typeface="Malgun Gothic" pitchFamily="34" charset="-122"/>
                </a:rPr>
                <a:t>5</a:t>
              </a:r>
              <a:endParaRPr lang="en-US" sz="1500" dirty="0"/>
            </a:p>
          </p:txBody>
        </p:sp>
        <p:sp>
          <p:nvSpPr>
            <p:cNvPr id="95" name="Text 80"/>
            <p:cNvSpPr/>
            <p:nvPr/>
          </p:nvSpPr>
          <p:spPr>
            <a:xfrm>
              <a:off x="5374112" y="4279392"/>
              <a:ext cx="177265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태블릿 → LIMS</a:t>
              </a:r>
              <a:endParaRPr lang="en-US" sz="1050" dirty="0"/>
            </a:p>
          </p:txBody>
        </p:sp>
        <p:sp>
          <p:nvSpPr>
            <p:cNvPr id="96" name="Text 81"/>
            <p:cNvSpPr/>
            <p:nvPr/>
          </p:nvSpPr>
          <p:spPr>
            <a:xfrm>
              <a:off x="5374112" y="4535424"/>
              <a:ext cx="17726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E6EEF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WiFi 전용 (외부망) - </a:t>
              </a:r>
              <a:r>
                <a:rPr lang="ko-KR" altLang="en-US" sz="800" dirty="0">
                  <a:solidFill>
                    <a:srgbClr val="E6EEF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예시</a:t>
              </a:r>
              <a:endParaRPr lang="en-US" sz="800" dirty="0"/>
            </a:p>
          </p:txBody>
        </p:sp>
        <p:sp>
          <p:nvSpPr>
            <p:cNvPr id="97" name="Text 82"/>
            <p:cNvSpPr/>
            <p:nvPr/>
          </p:nvSpPr>
          <p:spPr>
            <a:xfrm>
              <a:off x="5099792" y="4882896"/>
              <a:ext cx="1992112" cy="1609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무선랜 보안 WPA2/3-Enterprise, AP 인증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VPN 경유·단말 인증, Rogue AP·도청 차단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MDM 단말 통제, 분실 시 원격 차단</a:t>
              </a:r>
              <a:endParaRPr lang="en-US" sz="86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4990064" y="4224528"/>
            <a:ext cx="2211568" cy="2359152"/>
            <a:chOff x="7329648" y="4224528"/>
            <a:chExt cx="2211568" cy="2359152"/>
          </a:xfrm>
        </p:grpSpPr>
        <p:sp>
          <p:nvSpPr>
            <p:cNvPr id="98" name="Shape 83"/>
            <p:cNvSpPr/>
            <p:nvPr/>
          </p:nvSpPr>
          <p:spPr>
            <a:xfrm>
              <a:off x="7329648" y="4224528"/>
              <a:ext cx="2211568" cy="2359152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9" name="Shape 84"/>
            <p:cNvSpPr/>
            <p:nvPr/>
          </p:nvSpPr>
          <p:spPr>
            <a:xfrm>
              <a:off x="7329648" y="4224528"/>
              <a:ext cx="2211568" cy="566928"/>
            </a:xfrm>
            <a:prstGeom prst="rect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0" name="Shape 85"/>
            <p:cNvSpPr/>
            <p:nvPr/>
          </p:nvSpPr>
          <p:spPr>
            <a:xfrm>
              <a:off x="7329648" y="4279392"/>
              <a:ext cx="365760" cy="36576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Text 86"/>
            <p:cNvSpPr/>
            <p:nvPr/>
          </p:nvSpPr>
          <p:spPr>
            <a:xfrm>
              <a:off x="7329648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500" dirty="0"/>
            </a:p>
          </p:txBody>
        </p:sp>
        <p:sp>
          <p:nvSpPr>
            <p:cNvPr id="102" name="Text 87"/>
            <p:cNvSpPr/>
            <p:nvPr/>
          </p:nvSpPr>
          <p:spPr>
            <a:xfrm>
              <a:off x="7713696" y="4279392"/>
              <a:ext cx="177265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엣지서버 ↔ LIMS</a:t>
              </a:r>
              <a:endParaRPr lang="en-US" sz="1050" dirty="0"/>
            </a:p>
          </p:txBody>
        </p:sp>
        <p:sp>
          <p:nvSpPr>
            <p:cNvPr id="103" name="Text 88"/>
            <p:cNvSpPr/>
            <p:nvPr/>
          </p:nvSpPr>
          <p:spPr>
            <a:xfrm>
              <a:off x="7713696" y="4535424"/>
              <a:ext cx="17726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800" dirty="0" err="1">
                  <a:solidFill>
                    <a:srgbClr val="E6EEF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내부페쇄망</a:t>
              </a:r>
              <a:r>
                <a:rPr lang="en-US" altLang="ko-KR" sz="800" dirty="0">
                  <a:solidFill>
                    <a:srgbClr val="E6EEF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-DMZ</a:t>
              </a:r>
              <a:r>
                <a:rPr lang="ko-KR" altLang="en-US" sz="800" dirty="0">
                  <a:solidFill>
                    <a:srgbClr val="E6EEF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간 제한 연계</a:t>
              </a:r>
              <a:endParaRPr lang="en-US" sz="800" dirty="0"/>
            </a:p>
          </p:txBody>
        </p:sp>
        <p:sp>
          <p:nvSpPr>
            <p:cNvPr id="104" name="Text 89"/>
            <p:cNvSpPr/>
            <p:nvPr/>
          </p:nvSpPr>
          <p:spPr>
            <a:xfrm>
              <a:off x="7439376" y="4882896"/>
              <a:ext cx="1992112" cy="1609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방화벽 허용정책 최소화(IP·Port 화이트리스트)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전송 구간 암호화(SFTP/TLS)·키 관리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DB 전용계정·최소권한, SQL Injection 방지</a:t>
              </a:r>
              <a:endParaRPr lang="en-US" sz="860" dirty="0"/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7329648" y="4224528"/>
            <a:ext cx="2211568" cy="2359152"/>
            <a:chOff x="9669231" y="4224528"/>
            <a:chExt cx="2211568" cy="2359152"/>
          </a:xfrm>
        </p:grpSpPr>
        <p:sp>
          <p:nvSpPr>
            <p:cNvPr id="105" name="Shape 90"/>
            <p:cNvSpPr/>
            <p:nvPr/>
          </p:nvSpPr>
          <p:spPr>
            <a:xfrm>
              <a:off x="9669231" y="4224528"/>
              <a:ext cx="2211568" cy="2359152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Shape 91"/>
            <p:cNvSpPr/>
            <p:nvPr/>
          </p:nvSpPr>
          <p:spPr>
            <a:xfrm>
              <a:off x="9669231" y="4224528"/>
              <a:ext cx="2211568" cy="566928"/>
            </a:xfrm>
            <a:prstGeom prst="rect">
              <a:avLst/>
            </a:prstGeom>
            <a:solidFill>
              <a:srgbClr val="B4530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Shape 92"/>
            <p:cNvSpPr/>
            <p:nvPr/>
          </p:nvSpPr>
          <p:spPr>
            <a:xfrm>
              <a:off x="9669231" y="4279392"/>
              <a:ext cx="365760" cy="36576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Text 93"/>
            <p:cNvSpPr/>
            <p:nvPr/>
          </p:nvSpPr>
          <p:spPr>
            <a:xfrm>
              <a:off x="9669231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B45309"/>
                  </a:solidFill>
                  <a:latin typeface="Malgun Gothic" pitchFamily="34" charset="0"/>
                  <a:ea typeface="Malgun Gothic" pitchFamily="34" charset="-122"/>
                </a:rPr>
                <a:t>4</a:t>
              </a:r>
              <a:endParaRPr lang="en-US" sz="1500" dirty="0"/>
            </a:p>
          </p:txBody>
        </p:sp>
        <p:sp>
          <p:nvSpPr>
            <p:cNvPr id="109" name="Text 94"/>
            <p:cNvSpPr/>
            <p:nvPr/>
          </p:nvSpPr>
          <p:spPr>
            <a:xfrm>
              <a:off x="10053279" y="4279392"/>
              <a:ext cx="177265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LIMS → 고객</a:t>
              </a:r>
              <a:endParaRPr lang="en-US" sz="1050" dirty="0"/>
            </a:p>
          </p:txBody>
        </p:sp>
        <p:sp>
          <p:nvSpPr>
            <p:cNvPr id="110" name="Text 95"/>
            <p:cNvSpPr/>
            <p:nvPr/>
          </p:nvSpPr>
          <p:spPr>
            <a:xfrm>
              <a:off x="10053279" y="4535424"/>
              <a:ext cx="17726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E6EEF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외부망</a:t>
              </a:r>
              <a:endParaRPr lang="en-US" sz="800" dirty="0"/>
            </a:p>
          </p:txBody>
        </p:sp>
        <p:sp>
          <p:nvSpPr>
            <p:cNvPr id="111" name="Text 96"/>
            <p:cNvSpPr/>
            <p:nvPr/>
          </p:nvSpPr>
          <p:spPr>
            <a:xfrm>
              <a:off x="9778959" y="4882896"/>
              <a:ext cx="1992112" cy="1609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외부 구간 암호화(HTTPS/VPN), 망분리·DMZ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결과/개인정보 유출방지(DLP)·접근통제</a:t>
              </a:r>
              <a:endParaRPr lang="en-US" sz="860" dirty="0"/>
            </a:p>
            <a:p>
              <a:pPr marL="152400" indent="-152400">
                <a:lnSpc>
                  <a:spcPct val="100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860" dirty="0">
                  <a:solidFill>
                    <a:srgbClr val="2731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상대 인증·전자서명, 송신 이력 보존</a:t>
              </a:r>
              <a:endParaRPr lang="en-US" sz="860" dirty="0"/>
            </a:p>
          </p:txBody>
        </p:sp>
      </p:grpSp>
      <p:sp>
        <p:nvSpPr>
          <p:cNvPr id="112" name="Shape 9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9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RITAS-AX Edge Server 보안 구성도  ·  내부망(유선) / 망경계 / 외부망(DB·SFTP·WiFi) 구간별 보안 점검 항목  ·  휴비즈아이씨티</a:t>
            </a:r>
            <a:endParaRPr lang="en-US" sz="800" dirty="0"/>
          </a:p>
        </p:txBody>
      </p:sp>
      <p:sp>
        <p:nvSpPr>
          <p:cNvPr id="126" name="Shape 50"/>
          <p:cNvSpPr/>
          <p:nvPr/>
        </p:nvSpPr>
        <p:spPr>
          <a:xfrm flipH="1">
            <a:off x="8298180" y="1976628"/>
            <a:ext cx="787358" cy="400812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7D45D-9629-0C2B-AA01-831F12E1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E2AFCB-8A17-9A34-5FDA-7CC76F438D4E}"/>
              </a:ext>
            </a:extLst>
          </p:cNvPr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D1338BC-1D99-FF31-3D0F-B6B2280B8164}"/>
              </a:ext>
            </a:extLst>
          </p:cNvPr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AA500D33-DED9-A8EC-4AE1-F2CDB7827A23}"/>
              </a:ext>
            </a:extLst>
          </p:cNvPr>
          <p:cNvGrpSpPr/>
          <p:nvPr/>
        </p:nvGrpSpPr>
        <p:grpSpPr>
          <a:xfrm>
            <a:off x="365760" y="219456"/>
            <a:ext cx="512064" cy="512064"/>
            <a:chOff x="365760" y="219456"/>
            <a:chExt cx="512064" cy="512064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C60B9BA1-5069-F78C-6B3C-97256FBAC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048" y="237744"/>
              <a:ext cx="475488" cy="475488"/>
            </a:xfrm>
            <a:prstGeom prst="rect">
              <a:avLst/>
            </a:prstGeom>
          </p:spPr>
        </p:pic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07C3692C-D374-C1BD-F47D-6EDE07A1CD93}"/>
                </a:ext>
              </a:extLst>
            </p:cNvPr>
            <p:cNvSpPr/>
            <p:nvPr/>
          </p:nvSpPr>
          <p:spPr>
            <a:xfrm>
              <a:off x="365760" y="219456"/>
              <a:ext cx="512064" cy="512064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D2426E0D-1007-0A24-1554-355A260BE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310896"/>
              <a:ext cx="329184" cy="329184"/>
            </a:xfrm>
            <a:prstGeom prst="rect">
              <a:avLst/>
            </a:prstGeom>
          </p:spPr>
        </p:pic>
      </p:grpSp>
      <p:sp>
        <p:nvSpPr>
          <p:cNvPr id="7" name="Text 3">
            <a:extLst>
              <a:ext uri="{FF2B5EF4-FFF2-40B4-BE49-F238E27FC236}">
                <a16:creationId xmlns:a16="http://schemas.microsoft.com/office/drawing/2014/main" id="{DC406371-875A-E0AE-38CC-6CB4E90C6295}"/>
              </a:ext>
            </a:extLst>
          </p:cNvPr>
          <p:cNvSpPr/>
          <p:nvPr/>
        </p:nvSpPr>
        <p:spPr>
          <a:xfrm>
            <a:off x="1024128" y="1463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보안 점검 항목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9E48E09-1F12-4C25-616D-3C848D474FEA}"/>
              </a:ext>
            </a:extLst>
          </p:cNvPr>
          <p:cNvSpPr/>
          <p:nvPr/>
        </p:nvSpPr>
        <p:spPr>
          <a:xfrm>
            <a:off x="1033272" y="5760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100" dirty="0">
                <a:solidFill>
                  <a:srgbClr val="C7D6EC"/>
                </a:solidFill>
              </a:rPr>
              <a:t>내부 </a:t>
            </a:r>
            <a:r>
              <a:rPr lang="ko-KR" altLang="ko-KR" sz="1100" dirty="0" err="1">
                <a:solidFill>
                  <a:srgbClr val="C7D6EC"/>
                </a:solidFill>
              </a:rPr>
              <a:t>폐쇄망</a:t>
            </a:r>
            <a:r>
              <a:rPr lang="ko-KR" altLang="ko-KR" sz="1100" dirty="0">
                <a:solidFill>
                  <a:srgbClr val="C7D6EC"/>
                </a:solidFill>
              </a:rPr>
              <a:t> (</a:t>
            </a:r>
            <a:r>
              <a:rPr lang="ko-KR" altLang="ko-KR" sz="1100" dirty="0" err="1">
                <a:solidFill>
                  <a:srgbClr val="C7D6EC"/>
                </a:solidFill>
              </a:rPr>
              <a:t>엣지서버</a:t>
            </a:r>
            <a:r>
              <a:rPr lang="ko-KR" altLang="ko-KR" sz="1100" dirty="0">
                <a:solidFill>
                  <a:srgbClr val="C7D6EC"/>
                </a:solidFill>
              </a:rPr>
              <a:t>)과 DMZ(LIMS) 간 제한 연계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E7E1958-1946-8A63-2F4F-DACEB48F16EA}"/>
              </a:ext>
            </a:extLst>
          </p:cNvPr>
          <p:cNvSpPr/>
          <p:nvPr/>
        </p:nvSpPr>
        <p:spPr>
          <a:xfrm>
            <a:off x="978408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i="1" dirty="0">
                <a:solidFill>
                  <a:srgbClr val="9FB6D6"/>
                </a:solidFill>
                <a:latin typeface="Malgun Gothic" pitchFamily="34" charset="0"/>
                <a:ea typeface="Malgun Gothic" pitchFamily="34" charset="-122"/>
              </a:rPr>
              <a:t>점검 항목</a:t>
            </a:r>
            <a:endParaRPr lang="en-US" sz="1100" dirty="0"/>
          </a:p>
        </p:txBody>
      </p:sp>
      <p:sp>
        <p:nvSpPr>
          <p:cNvPr id="112" name="Shape 97">
            <a:extLst>
              <a:ext uri="{FF2B5EF4-FFF2-40B4-BE49-F238E27FC236}">
                <a16:creationId xmlns:a16="http://schemas.microsoft.com/office/drawing/2014/main" id="{D57E51F2-1A07-48BE-5574-500E7172F4E1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98">
            <a:extLst>
              <a:ext uri="{FF2B5EF4-FFF2-40B4-BE49-F238E27FC236}">
                <a16:creationId xmlns:a16="http://schemas.microsoft.com/office/drawing/2014/main" id="{05FB2A92-A20B-BA9D-6C13-00553F705A65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RITAS-AX Edge Server 보안 구성도  ·  내부망(유선) / 망경계 / 외부망(DB·SFTP·WiFi) 구간별 보안 점검 항목  ·  휴비즈아이씨티</a:t>
            </a:r>
            <a:endParaRPr lang="en-US" sz="800" dirty="0"/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B15D92ED-F7FF-EC4D-8A50-5B4BFF894672}"/>
              </a:ext>
            </a:extLst>
          </p:cNvPr>
          <p:cNvGrpSpPr/>
          <p:nvPr/>
        </p:nvGrpSpPr>
        <p:grpSpPr>
          <a:xfrm>
            <a:off x="877825" y="1197864"/>
            <a:ext cx="4580593" cy="1505878"/>
            <a:chOff x="310896" y="4224528"/>
            <a:chExt cx="2211568" cy="2267712"/>
          </a:xfrm>
        </p:grpSpPr>
        <p:sp>
          <p:nvSpPr>
            <p:cNvPr id="138" name="Shape 62">
              <a:extLst>
                <a:ext uri="{FF2B5EF4-FFF2-40B4-BE49-F238E27FC236}">
                  <a16:creationId xmlns:a16="http://schemas.microsoft.com/office/drawing/2014/main" id="{9853E7AC-389E-9EB7-0A70-79224A2F5C69}"/>
                </a:ext>
              </a:extLst>
            </p:cNvPr>
            <p:cNvSpPr/>
            <p:nvPr/>
          </p:nvSpPr>
          <p:spPr>
            <a:xfrm>
              <a:off x="310896" y="4224528"/>
              <a:ext cx="2211568" cy="2267710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0" name="Shape 63">
              <a:extLst>
                <a:ext uri="{FF2B5EF4-FFF2-40B4-BE49-F238E27FC236}">
                  <a16:creationId xmlns:a16="http://schemas.microsoft.com/office/drawing/2014/main" id="{8FA182F0-D84C-9089-7522-811127F4F283}"/>
                </a:ext>
              </a:extLst>
            </p:cNvPr>
            <p:cNvSpPr/>
            <p:nvPr/>
          </p:nvSpPr>
          <p:spPr>
            <a:xfrm>
              <a:off x="310896" y="4224528"/>
              <a:ext cx="2211568" cy="605881"/>
            </a:xfrm>
            <a:prstGeom prst="rect">
              <a:avLst/>
            </a:prstGeom>
            <a:solidFill>
              <a:srgbClr val="002060"/>
            </a:solidFill>
            <a:ln/>
          </p:spPr>
          <p:txBody>
            <a:bodyPr/>
            <a:lstStyle/>
            <a:p>
              <a:endParaRPr lang="ko-KR" altLang="en-US" sz="2000" dirty="0"/>
            </a:p>
          </p:txBody>
        </p:sp>
        <p:sp>
          <p:nvSpPr>
            <p:cNvPr id="142" name="Text 65">
              <a:extLst>
                <a:ext uri="{FF2B5EF4-FFF2-40B4-BE49-F238E27FC236}">
                  <a16:creationId xmlns:a16="http://schemas.microsoft.com/office/drawing/2014/main" id="{0362A381-04AE-B94B-9AE6-AAF1BFFC303C}"/>
                </a:ext>
              </a:extLst>
            </p:cNvPr>
            <p:cNvSpPr/>
            <p:nvPr/>
          </p:nvSpPr>
          <p:spPr>
            <a:xfrm>
              <a:off x="310896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43" name="Text 66">
              <a:extLst>
                <a:ext uri="{FF2B5EF4-FFF2-40B4-BE49-F238E27FC236}">
                  <a16:creationId xmlns:a16="http://schemas.microsoft.com/office/drawing/2014/main" id="{61791925-819F-16CA-830B-6C845FD33BC5}"/>
                </a:ext>
              </a:extLst>
            </p:cNvPr>
            <p:cNvSpPr/>
            <p:nvPr/>
          </p:nvSpPr>
          <p:spPr>
            <a:xfrm>
              <a:off x="420624" y="4314401"/>
              <a:ext cx="19921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방화벽 허용 정책 최소화</a:t>
              </a:r>
              <a:endParaRPr lang="en-US" sz="1200" dirty="0"/>
            </a:p>
          </p:txBody>
        </p:sp>
        <p:sp>
          <p:nvSpPr>
            <p:cNvPr id="145" name="Text 68">
              <a:extLst>
                <a:ext uri="{FF2B5EF4-FFF2-40B4-BE49-F238E27FC236}">
                  <a16:creationId xmlns:a16="http://schemas.microsoft.com/office/drawing/2014/main" id="{FEF21198-737A-A1EB-1B27-BC0502AC5EAF}"/>
                </a:ext>
              </a:extLst>
            </p:cNvPr>
            <p:cNvSpPr/>
            <p:nvPr/>
          </p:nvSpPr>
          <p:spPr>
            <a:xfrm>
              <a:off x="420624" y="5019508"/>
              <a:ext cx="1992112" cy="14727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Source: </a:t>
              </a:r>
              <a:r>
                <a:rPr kumimoji="1" lang="ko-KR" altLang="en-US" sz="1050" dirty="0" err="1">
                  <a:latin typeface="+mj-ea"/>
                </a:rPr>
                <a:t>엣지서버</a:t>
              </a:r>
              <a:r>
                <a:rPr kumimoji="1" lang="ko-KR" altLang="en-US" sz="1050" dirty="0">
                  <a:latin typeface="+mj-ea"/>
                </a:rPr>
                <a:t> 고정 </a:t>
              </a:r>
              <a:r>
                <a:rPr kumimoji="1" lang="en" altLang="ko-KR" sz="1050" dirty="0">
                  <a:latin typeface="+mj-ea"/>
                </a:rPr>
                <a:t>IP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Destination: LIMS DMZ IP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Port: DB / SFTP / HTTPS </a:t>
              </a:r>
              <a:r>
                <a:rPr kumimoji="1" lang="ko-KR" altLang="en-US" sz="1050" dirty="0">
                  <a:latin typeface="+mj-ea"/>
                </a:rPr>
                <a:t>등 필요한 포트만 허용</a:t>
              </a: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B149927F-5635-E02E-CE03-DD390CE9F1B9}"/>
              </a:ext>
            </a:extLst>
          </p:cNvPr>
          <p:cNvGrpSpPr/>
          <p:nvPr/>
        </p:nvGrpSpPr>
        <p:grpSpPr>
          <a:xfrm>
            <a:off x="877824" y="3058805"/>
            <a:ext cx="4580593" cy="1505878"/>
            <a:chOff x="310896" y="4224528"/>
            <a:chExt cx="2211568" cy="2267712"/>
          </a:xfrm>
        </p:grpSpPr>
        <p:sp>
          <p:nvSpPr>
            <p:cNvPr id="147" name="Shape 62">
              <a:extLst>
                <a:ext uri="{FF2B5EF4-FFF2-40B4-BE49-F238E27FC236}">
                  <a16:creationId xmlns:a16="http://schemas.microsoft.com/office/drawing/2014/main" id="{B2A842E4-0E52-3110-8E14-1FC87F63354D}"/>
                </a:ext>
              </a:extLst>
            </p:cNvPr>
            <p:cNvSpPr/>
            <p:nvPr/>
          </p:nvSpPr>
          <p:spPr>
            <a:xfrm>
              <a:off x="310896" y="4224528"/>
              <a:ext cx="2211568" cy="2267710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8" name="Shape 63">
              <a:extLst>
                <a:ext uri="{FF2B5EF4-FFF2-40B4-BE49-F238E27FC236}">
                  <a16:creationId xmlns:a16="http://schemas.microsoft.com/office/drawing/2014/main" id="{846EAEC8-A58C-5BD2-C4F7-5224DEC19DEB}"/>
                </a:ext>
              </a:extLst>
            </p:cNvPr>
            <p:cNvSpPr/>
            <p:nvPr/>
          </p:nvSpPr>
          <p:spPr>
            <a:xfrm>
              <a:off x="310896" y="4224528"/>
              <a:ext cx="2211568" cy="605881"/>
            </a:xfrm>
            <a:prstGeom prst="rect">
              <a:avLst/>
            </a:prstGeom>
            <a:solidFill>
              <a:srgbClr val="002060"/>
            </a:solidFill>
            <a:ln/>
          </p:spPr>
          <p:txBody>
            <a:bodyPr/>
            <a:lstStyle/>
            <a:p>
              <a:endParaRPr lang="ko-KR" altLang="en-US" sz="2000" dirty="0"/>
            </a:p>
          </p:txBody>
        </p:sp>
        <p:sp>
          <p:nvSpPr>
            <p:cNvPr id="149" name="Text 65">
              <a:extLst>
                <a:ext uri="{FF2B5EF4-FFF2-40B4-BE49-F238E27FC236}">
                  <a16:creationId xmlns:a16="http://schemas.microsoft.com/office/drawing/2014/main" id="{848B5403-36B6-8E95-6272-7F9375150D45}"/>
                </a:ext>
              </a:extLst>
            </p:cNvPr>
            <p:cNvSpPr/>
            <p:nvPr/>
          </p:nvSpPr>
          <p:spPr>
            <a:xfrm>
              <a:off x="310896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50" name="Text 66">
              <a:extLst>
                <a:ext uri="{FF2B5EF4-FFF2-40B4-BE49-F238E27FC236}">
                  <a16:creationId xmlns:a16="http://schemas.microsoft.com/office/drawing/2014/main" id="{825EFD43-AC4B-3480-CB42-45E95B2425AB}"/>
                </a:ext>
              </a:extLst>
            </p:cNvPr>
            <p:cNvSpPr/>
            <p:nvPr/>
          </p:nvSpPr>
          <p:spPr>
            <a:xfrm>
              <a:off x="420624" y="4314401"/>
              <a:ext cx="19921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통신 방향 명시</a:t>
              </a:r>
              <a:endParaRPr lang="en-US" sz="1200" dirty="0"/>
            </a:p>
          </p:txBody>
        </p:sp>
        <p:sp>
          <p:nvSpPr>
            <p:cNvPr id="151" name="Text 68">
              <a:extLst>
                <a:ext uri="{FF2B5EF4-FFF2-40B4-BE49-F238E27FC236}">
                  <a16:creationId xmlns:a16="http://schemas.microsoft.com/office/drawing/2014/main" id="{7FB62857-5C2A-33ED-0502-5DE11BD1B9AB}"/>
                </a:ext>
              </a:extLst>
            </p:cNvPr>
            <p:cNvSpPr/>
            <p:nvPr/>
          </p:nvSpPr>
          <p:spPr>
            <a:xfrm>
              <a:off x="420624" y="5019508"/>
              <a:ext cx="1992112" cy="14727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ko-KR" altLang="en-US" sz="1050" dirty="0" err="1">
                  <a:latin typeface="+mj-ea"/>
                </a:rPr>
                <a:t>엣지서버</a:t>
              </a:r>
              <a:r>
                <a:rPr kumimoji="1" lang="ko-KR" altLang="en-US" sz="1050" dirty="0">
                  <a:latin typeface="+mj-ea"/>
                </a:rPr>
                <a:t> → </a:t>
              </a:r>
              <a:r>
                <a:rPr kumimoji="1" lang="en" altLang="ko-KR" sz="1050" dirty="0">
                  <a:latin typeface="+mj-ea"/>
                </a:rPr>
                <a:t>LIMS: </a:t>
              </a:r>
              <a:r>
                <a:rPr kumimoji="1" lang="ko-KR" altLang="en-US" sz="1050" dirty="0">
                  <a:latin typeface="+mj-ea"/>
                </a:rPr>
                <a:t>분석 결과 저장</a:t>
              </a:r>
              <a:r>
                <a:rPr kumimoji="1" lang="en-US" altLang="ko-KR" sz="1050" dirty="0">
                  <a:latin typeface="+mj-ea"/>
                </a:rPr>
                <a:t>, </a:t>
              </a:r>
              <a:r>
                <a:rPr kumimoji="1" lang="ko-KR" altLang="en-US" sz="1050" dirty="0">
                  <a:latin typeface="+mj-ea"/>
                </a:rPr>
                <a:t>파일 업로드</a:t>
              </a:r>
              <a:r>
                <a:rPr kumimoji="1" lang="en-US" altLang="ko-KR" sz="1050" dirty="0">
                  <a:latin typeface="+mj-ea"/>
                </a:rPr>
                <a:t>, </a:t>
              </a:r>
              <a:r>
                <a:rPr kumimoji="1" lang="ko-KR" altLang="en-US" sz="1050" dirty="0">
                  <a:latin typeface="+mj-ea"/>
                </a:rPr>
                <a:t>상태 업데이트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LIMS → </a:t>
              </a:r>
              <a:r>
                <a:rPr kumimoji="1" lang="ko-KR" altLang="en-US" sz="1050" dirty="0" err="1">
                  <a:latin typeface="+mj-ea"/>
                </a:rPr>
                <a:t>엣지서버</a:t>
              </a:r>
              <a:r>
                <a:rPr kumimoji="1" lang="en-US" altLang="ko-KR" sz="1050" dirty="0">
                  <a:latin typeface="+mj-ea"/>
                </a:rPr>
                <a:t>: </a:t>
              </a:r>
              <a:r>
                <a:rPr kumimoji="1" lang="ko-KR" altLang="en-US" sz="1050" dirty="0">
                  <a:latin typeface="+mj-ea"/>
                </a:rPr>
                <a:t>분석 요청</a:t>
              </a:r>
              <a:r>
                <a:rPr kumimoji="1" lang="en-US" altLang="ko-KR" sz="1050" dirty="0">
                  <a:latin typeface="+mj-ea"/>
                </a:rPr>
                <a:t>, </a:t>
              </a:r>
              <a:r>
                <a:rPr kumimoji="1" lang="ko-KR" altLang="en-US" sz="1050" dirty="0">
                  <a:latin typeface="+mj-ea"/>
                </a:rPr>
                <a:t>작업 상태 조회</a:t>
              </a:r>
              <a:r>
                <a:rPr kumimoji="1" lang="en-US" altLang="ko-KR" sz="1050" dirty="0">
                  <a:latin typeface="+mj-ea"/>
                </a:rPr>
                <a:t>, </a:t>
              </a:r>
              <a:r>
                <a:rPr kumimoji="1" lang="ko-KR" altLang="en-US" sz="1050" dirty="0">
                  <a:latin typeface="+mj-ea"/>
                </a:rPr>
                <a:t>결과 재처리 요청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ko-KR" altLang="en-US" sz="1050" dirty="0">
                  <a:latin typeface="+mj-ea"/>
                </a:rPr>
                <a:t>양방향 필요 시 요청</a:t>
              </a:r>
              <a:r>
                <a:rPr kumimoji="1" lang="en-US" altLang="ko-KR" sz="1050" dirty="0">
                  <a:latin typeface="+mj-ea"/>
                </a:rPr>
                <a:t>/</a:t>
              </a:r>
              <a:r>
                <a:rPr kumimoji="1" lang="ko-KR" altLang="en-US" sz="1050" dirty="0">
                  <a:latin typeface="+mj-ea"/>
                </a:rPr>
                <a:t>응답 </a:t>
              </a:r>
              <a:r>
                <a:rPr kumimoji="1" lang="en" altLang="ko-KR" sz="1050" dirty="0">
                  <a:latin typeface="+mj-ea"/>
                </a:rPr>
                <a:t>API </a:t>
              </a:r>
              <a:r>
                <a:rPr kumimoji="1" lang="ko-KR" altLang="en-US" sz="1050" dirty="0">
                  <a:latin typeface="+mj-ea"/>
                </a:rPr>
                <a:t>방식으로 제한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250A529D-FA17-93FE-9156-9D782E3E2F4A}"/>
              </a:ext>
            </a:extLst>
          </p:cNvPr>
          <p:cNvGrpSpPr/>
          <p:nvPr/>
        </p:nvGrpSpPr>
        <p:grpSpPr>
          <a:xfrm>
            <a:off x="877825" y="4887644"/>
            <a:ext cx="4580593" cy="1505878"/>
            <a:chOff x="310896" y="4224528"/>
            <a:chExt cx="2211568" cy="2267712"/>
          </a:xfrm>
        </p:grpSpPr>
        <p:sp>
          <p:nvSpPr>
            <p:cNvPr id="153" name="Shape 62">
              <a:extLst>
                <a:ext uri="{FF2B5EF4-FFF2-40B4-BE49-F238E27FC236}">
                  <a16:creationId xmlns:a16="http://schemas.microsoft.com/office/drawing/2014/main" id="{8EBA5B11-9436-3EA6-F9DB-5B6E536515AF}"/>
                </a:ext>
              </a:extLst>
            </p:cNvPr>
            <p:cNvSpPr/>
            <p:nvPr/>
          </p:nvSpPr>
          <p:spPr>
            <a:xfrm>
              <a:off x="310896" y="4224528"/>
              <a:ext cx="2211568" cy="2267710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4" name="Shape 63">
              <a:extLst>
                <a:ext uri="{FF2B5EF4-FFF2-40B4-BE49-F238E27FC236}">
                  <a16:creationId xmlns:a16="http://schemas.microsoft.com/office/drawing/2014/main" id="{71D1982B-DB36-16F5-C098-974B3C41656B}"/>
                </a:ext>
              </a:extLst>
            </p:cNvPr>
            <p:cNvSpPr/>
            <p:nvPr/>
          </p:nvSpPr>
          <p:spPr>
            <a:xfrm>
              <a:off x="310896" y="4224528"/>
              <a:ext cx="2211568" cy="605881"/>
            </a:xfrm>
            <a:prstGeom prst="rect">
              <a:avLst/>
            </a:prstGeom>
            <a:solidFill>
              <a:srgbClr val="002060"/>
            </a:solidFill>
            <a:ln/>
          </p:spPr>
          <p:txBody>
            <a:bodyPr/>
            <a:lstStyle/>
            <a:p>
              <a:endParaRPr lang="ko-KR" altLang="en-US" sz="2000" dirty="0"/>
            </a:p>
          </p:txBody>
        </p:sp>
        <p:sp>
          <p:nvSpPr>
            <p:cNvPr id="155" name="Text 65">
              <a:extLst>
                <a:ext uri="{FF2B5EF4-FFF2-40B4-BE49-F238E27FC236}">
                  <a16:creationId xmlns:a16="http://schemas.microsoft.com/office/drawing/2014/main" id="{265DD713-95C0-F848-344E-AACFCFA5E6E3}"/>
                </a:ext>
              </a:extLst>
            </p:cNvPr>
            <p:cNvSpPr/>
            <p:nvPr/>
          </p:nvSpPr>
          <p:spPr>
            <a:xfrm>
              <a:off x="310896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56" name="Text 66">
              <a:extLst>
                <a:ext uri="{FF2B5EF4-FFF2-40B4-BE49-F238E27FC236}">
                  <a16:creationId xmlns:a16="http://schemas.microsoft.com/office/drawing/2014/main" id="{339EC9FE-DEF4-64A1-B9B4-7375A18D5D34}"/>
                </a:ext>
              </a:extLst>
            </p:cNvPr>
            <p:cNvSpPr/>
            <p:nvPr/>
          </p:nvSpPr>
          <p:spPr>
            <a:xfrm>
              <a:off x="420624" y="4326070"/>
              <a:ext cx="19921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전송 구간 암호화</a:t>
              </a:r>
              <a:endParaRPr lang="en-US" sz="1200" dirty="0"/>
            </a:p>
          </p:txBody>
        </p:sp>
        <p:sp>
          <p:nvSpPr>
            <p:cNvPr id="157" name="Text 68">
              <a:extLst>
                <a:ext uri="{FF2B5EF4-FFF2-40B4-BE49-F238E27FC236}">
                  <a16:creationId xmlns:a16="http://schemas.microsoft.com/office/drawing/2014/main" id="{C0C2FCEC-AECC-7CB6-1A1E-B0EC1FD07B55}"/>
                </a:ext>
              </a:extLst>
            </p:cNvPr>
            <p:cNvSpPr/>
            <p:nvPr/>
          </p:nvSpPr>
          <p:spPr>
            <a:xfrm>
              <a:off x="420624" y="5019508"/>
              <a:ext cx="1992112" cy="14727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HTTPS/TLS, SFTP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ko-KR" altLang="en-US" sz="1050" dirty="0">
                  <a:latin typeface="+mj-ea"/>
                </a:rPr>
                <a:t>인증서 및 </a:t>
              </a:r>
              <a:r>
                <a:rPr kumimoji="1" lang="en" altLang="ko-KR" sz="1050" dirty="0">
                  <a:latin typeface="+mj-ea"/>
                </a:rPr>
                <a:t>SSH Key </a:t>
              </a:r>
              <a:r>
                <a:rPr kumimoji="1" lang="ko-KR" altLang="en-US" sz="1050" dirty="0">
                  <a:latin typeface="+mj-ea"/>
                </a:rPr>
                <a:t>관리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ko-KR" altLang="en-US" sz="1050" dirty="0" err="1">
                  <a:latin typeface="+mj-ea"/>
                </a:rPr>
                <a:t>평문</a:t>
              </a:r>
              <a:r>
                <a:rPr kumimoji="1" lang="ko-KR" altLang="en-US" sz="1050" dirty="0">
                  <a:latin typeface="+mj-ea"/>
                </a:rPr>
                <a:t> </a:t>
              </a:r>
              <a:r>
                <a:rPr kumimoji="1" lang="en" altLang="ko-KR" sz="1050" dirty="0">
                  <a:latin typeface="+mj-ea"/>
                </a:rPr>
                <a:t>DB </a:t>
              </a:r>
              <a:r>
                <a:rPr kumimoji="1" lang="ko-KR" altLang="en-US" sz="1050" dirty="0">
                  <a:latin typeface="+mj-ea"/>
                </a:rPr>
                <a:t>접속 금지</a:t>
              </a: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6C56171E-35E0-38F3-A09A-7A648401F2E7}"/>
              </a:ext>
            </a:extLst>
          </p:cNvPr>
          <p:cNvGrpSpPr/>
          <p:nvPr/>
        </p:nvGrpSpPr>
        <p:grpSpPr>
          <a:xfrm>
            <a:off x="6650305" y="1197864"/>
            <a:ext cx="4580593" cy="1505878"/>
            <a:chOff x="310896" y="4224528"/>
            <a:chExt cx="2211568" cy="2267712"/>
          </a:xfrm>
        </p:grpSpPr>
        <p:sp>
          <p:nvSpPr>
            <p:cNvPr id="178" name="Shape 62">
              <a:extLst>
                <a:ext uri="{FF2B5EF4-FFF2-40B4-BE49-F238E27FC236}">
                  <a16:creationId xmlns:a16="http://schemas.microsoft.com/office/drawing/2014/main" id="{09C4B64D-71BF-145F-BAD2-6B5349DD51FB}"/>
                </a:ext>
              </a:extLst>
            </p:cNvPr>
            <p:cNvSpPr/>
            <p:nvPr/>
          </p:nvSpPr>
          <p:spPr>
            <a:xfrm>
              <a:off x="310896" y="4224528"/>
              <a:ext cx="2211568" cy="2267710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9" name="Shape 63">
              <a:extLst>
                <a:ext uri="{FF2B5EF4-FFF2-40B4-BE49-F238E27FC236}">
                  <a16:creationId xmlns:a16="http://schemas.microsoft.com/office/drawing/2014/main" id="{45161C98-D384-B0DD-8F6F-72D831865C33}"/>
                </a:ext>
              </a:extLst>
            </p:cNvPr>
            <p:cNvSpPr/>
            <p:nvPr/>
          </p:nvSpPr>
          <p:spPr>
            <a:xfrm>
              <a:off x="310896" y="4224528"/>
              <a:ext cx="2211568" cy="605881"/>
            </a:xfrm>
            <a:prstGeom prst="rect">
              <a:avLst/>
            </a:prstGeom>
            <a:solidFill>
              <a:srgbClr val="002060"/>
            </a:solidFill>
            <a:ln/>
          </p:spPr>
          <p:txBody>
            <a:bodyPr/>
            <a:lstStyle/>
            <a:p>
              <a:endParaRPr lang="ko-KR" altLang="en-US" sz="2000" dirty="0"/>
            </a:p>
          </p:txBody>
        </p:sp>
        <p:sp>
          <p:nvSpPr>
            <p:cNvPr id="180" name="Text 65">
              <a:extLst>
                <a:ext uri="{FF2B5EF4-FFF2-40B4-BE49-F238E27FC236}">
                  <a16:creationId xmlns:a16="http://schemas.microsoft.com/office/drawing/2014/main" id="{80A4B1BF-8DC8-1D16-606D-102A8ABD13A8}"/>
                </a:ext>
              </a:extLst>
            </p:cNvPr>
            <p:cNvSpPr/>
            <p:nvPr/>
          </p:nvSpPr>
          <p:spPr>
            <a:xfrm>
              <a:off x="310896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81" name="Text 66">
              <a:extLst>
                <a:ext uri="{FF2B5EF4-FFF2-40B4-BE49-F238E27FC236}">
                  <a16:creationId xmlns:a16="http://schemas.microsoft.com/office/drawing/2014/main" id="{957EEECA-C240-2684-0C8C-0370E6930D5D}"/>
                </a:ext>
              </a:extLst>
            </p:cNvPr>
            <p:cNvSpPr/>
            <p:nvPr/>
          </p:nvSpPr>
          <p:spPr>
            <a:xfrm>
              <a:off x="420624" y="4314401"/>
              <a:ext cx="19921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계정</a:t>
              </a:r>
              <a:r>
                <a:rPr lang="en-US" altLang="ko-KR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/</a:t>
              </a:r>
              <a:r>
                <a:rPr lang="ko-KR" alt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권한 통제</a:t>
              </a:r>
              <a:endParaRPr lang="en-US" sz="1200" dirty="0"/>
            </a:p>
          </p:txBody>
        </p:sp>
        <p:sp>
          <p:nvSpPr>
            <p:cNvPr id="182" name="Text 68">
              <a:extLst>
                <a:ext uri="{FF2B5EF4-FFF2-40B4-BE49-F238E27FC236}">
                  <a16:creationId xmlns:a16="http://schemas.microsoft.com/office/drawing/2014/main" id="{D5804EA2-E6E3-7FFD-1A42-6D3D67A9629F}"/>
                </a:ext>
              </a:extLst>
            </p:cNvPr>
            <p:cNvSpPr/>
            <p:nvPr/>
          </p:nvSpPr>
          <p:spPr>
            <a:xfrm>
              <a:off x="420624" y="5019508"/>
              <a:ext cx="1992112" cy="14727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LIMS </a:t>
              </a:r>
              <a:r>
                <a:rPr kumimoji="1" lang="ko-KR" altLang="en-US" sz="1050" dirty="0">
                  <a:latin typeface="+mj-ea"/>
                </a:rPr>
                <a:t>연계 전용 계정 사용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DB </a:t>
              </a:r>
              <a:r>
                <a:rPr kumimoji="1" lang="ko-KR" altLang="en-US" sz="1050" dirty="0">
                  <a:latin typeface="+mj-ea"/>
                </a:rPr>
                <a:t>최소 권한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SFTP </a:t>
              </a:r>
              <a:r>
                <a:rPr kumimoji="1" lang="ko-KR" altLang="en-US" sz="1050" dirty="0">
                  <a:latin typeface="+mj-ea"/>
                </a:rPr>
                <a:t>업로드</a:t>
              </a:r>
              <a:r>
                <a:rPr kumimoji="1" lang="en-US" altLang="ko-KR" sz="1050" dirty="0">
                  <a:latin typeface="+mj-ea"/>
                </a:rPr>
                <a:t>/</a:t>
              </a:r>
              <a:r>
                <a:rPr kumimoji="1" lang="ko-KR" altLang="en-US" sz="1050" dirty="0">
                  <a:latin typeface="+mj-ea"/>
                </a:rPr>
                <a:t>다운로드 경로 제한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OS </a:t>
              </a:r>
              <a:r>
                <a:rPr kumimoji="1" lang="ko-KR" altLang="en-US" sz="1050" dirty="0">
                  <a:latin typeface="+mj-ea"/>
                </a:rPr>
                <a:t>계정 공유 금지</a:t>
              </a: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4DF7268-807F-EBCC-D45A-FEDA850A7D0C}"/>
              </a:ext>
            </a:extLst>
          </p:cNvPr>
          <p:cNvGrpSpPr/>
          <p:nvPr/>
        </p:nvGrpSpPr>
        <p:grpSpPr>
          <a:xfrm>
            <a:off x="6650304" y="3058805"/>
            <a:ext cx="4580593" cy="1505878"/>
            <a:chOff x="310896" y="4224528"/>
            <a:chExt cx="2211568" cy="2267712"/>
          </a:xfrm>
        </p:grpSpPr>
        <p:sp>
          <p:nvSpPr>
            <p:cNvPr id="184" name="Shape 62">
              <a:extLst>
                <a:ext uri="{FF2B5EF4-FFF2-40B4-BE49-F238E27FC236}">
                  <a16:creationId xmlns:a16="http://schemas.microsoft.com/office/drawing/2014/main" id="{B119851A-2223-F7B9-F922-ECB2DB2D664B}"/>
                </a:ext>
              </a:extLst>
            </p:cNvPr>
            <p:cNvSpPr/>
            <p:nvPr/>
          </p:nvSpPr>
          <p:spPr>
            <a:xfrm>
              <a:off x="310896" y="4224528"/>
              <a:ext cx="2211568" cy="2267710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5" name="Shape 63">
              <a:extLst>
                <a:ext uri="{FF2B5EF4-FFF2-40B4-BE49-F238E27FC236}">
                  <a16:creationId xmlns:a16="http://schemas.microsoft.com/office/drawing/2014/main" id="{DB4499B5-CD88-0597-79A0-EDCB2FC25061}"/>
                </a:ext>
              </a:extLst>
            </p:cNvPr>
            <p:cNvSpPr/>
            <p:nvPr/>
          </p:nvSpPr>
          <p:spPr>
            <a:xfrm>
              <a:off x="310896" y="4224528"/>
              <a:ext cx="2211568" cy="605881"/>
            </a:xfrm>
            <a:prstGeom prst="rect">
              <a:avLst/>
            </a:prstGeom>
            <a:solidFill>
              <a:srgbClr val="002060"/>
            </a:solidFill>
            <a:ln/>
          </p:spPr>
          <p:txBody>
            <a:bodyPr/>
            <a:lstStyle/>
            <a:p>
              <a:endParaRPr lang="ko-KR" altLang="en-US" sz="2000" dirty="0"/>
            </a:p>
          </p:txBody>
        </p:sp>
        <p:sp>
          <p:nvSpPr>
            <p:cNvPr id="186" name="Text 65">
              <a:extLst>
                <a:ext uri="{FF2B5EF4-FFF2-40B4-BE49-F238E27FC236}">
                  <a16:creationId xmlns:a16="http://schemas.microsoft.com/office/drawing/2014/main" id="{390A655F-4525-D07A-5BD5-E4C501D4B798}"/>
                </a:ext>
              </a:extLst>
            </p:cNvPr>
            <p:cNvSpPr/>
            <p:nvPr/>
          </p:nvSpPr>
          <p:spPr>
            <a:xfrm>
              <a:off x="310896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87" name="Text 66">
              <a:extLst>
                <a:ext uri="{FF2B5EF4-FFF2-40B4-BE49-F238E27FC236}">
                  <a16:creationId xmlns:a16="http://schemas.microsoft.com/office/drawing/2014/main" id="{D9168D7E-AF87-C0CB-DD06-F1ADFC0F8E7D}"/>
                </a:ext>
              </a:extLst>
            </p:cNvPr>
            <p:cNvSpPr/>
            <p:nvPr/>
          </p:nvSpPr>
          <p:spPr>
            <a:xfrm>
              <a:off x="420624" y="4314401"/>
              <a:ext cx="19921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로그</a:t>
              </a:r>
              <a:r>
                <a:rPr lang="en-US" altLang="ko-KR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/</a:t>
              </a:r>
              <a:r>
                <a:rPr lang="ko-KR" alt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감사</a:t>
              </a:r>
              <a:endParaRPr lang="en-US" sz="1200" dirty="0"/>
            </a:p>
          </p:txBody>
        </p:sp>
        <p:sp>
          <p:nvSpPr>
            <p:cNvPr id="188" name="Text 68">
              <a:extLst>
                <a:ext uri="{FF2B5EF4-FFF2-40B4-BE49-F238E27FC236}">
                  <a16:creationId xmlns:a16="http://schemas.microsoft.com/office/drawing/2014/main" id="{76E09AEB-1825-EB12-A2D9-CFE2C5439341}"/>
                </a:ext>
              </a:extLst>
            </p:cNvPr>
            <p:cNvSpPr/>
            <p:nvPr/>
          </p:nvSpPr>
          <p:spPr>
            <a:xfrm>
              <a:off x="420624" y="5019508"/>
              <a:ext cx="1992112" cy="14727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ko-KR" altLang="en-US" sz="1050" dirty="0">
                  <a:latin typeface="+mj-ea"/>
                </a:rPr>
                <a:t>접속 </a:t>
              </a:r>
              <a:r>
                <a:rPr kumimoji="1" lang="en" altLang="ko-KR" sz="1050" dirty="0">
                  <a:latin typeface="+mj-ea"/>
                </a:rPr>
                <a:t>IP, </a:t>
              </a:r>
              <a:r>
                <a:rPr kumimoji="1" lang="ko-KR" altLang="en-US" sz="1050" dirty="0">
                  <a:latin typeface="+mj-ea"/>
                </a:rPr>
                <a:t>계정</a:t>
              </a:r>
              <a:r>
                <a:rPr kumimoji="1" lang="en-US" altLang="ko-KR" sz="1050" dirty="0">
                  <a:latin typeface="+mj-ea"/>
                </a:rPr>
                <a:t>, </a:t>
              </a:r>
              <a:r>
                <a:rPr kumimoji="1" lang="ko-KR" altLang="en-US" sz="1050" dirty="0">
                  <a:latin typeface="+mj-ea"/>
                </a:rPr>
                <a:t>시간</a:t>
              </a:r>
              <a:r>
                <a:rPr kumimoji="1" lang="en-US" altLang="ko-KR" sz="1050" dirty="0">
                  <a:latin typeface="+mj-ea"/>
                </a:rPr>
                <a:t>, </a:t>
              </a:r>
              <a:r>
                <a:rPr kumimoji="1" lang="ko-KR" altLang="en-US" sz="1050" dirty="0">
                  <a:latin typeface="+mj-ea"/>
                </a:rPr>
                <a:t>파일명</a:t>
              </a:r>
              <a:r>
                <a:rPr kumimoji="1" lang="en-US" altLang="ko-KR" sz="1050" dirty="0">
                  <a:latin typeface="+mj-ea"/>
                </a:rPr>
                <a:t>, </a:t>
              </a:r>
              <a:r>
                <a:rPr kumimoji="1" lang="ko-KR" altLang="en-US" sz="1050" dirty="0">
                  <a:latin typeface="+mj-ea"/>
                </a:rPr>
                <a:t>요청 </a:t>
              </a:r>
              <a:r>
                <a:rPr kumimoji="1" lang="en" altLang="ko-KR" sz="1050" dirty="0">
                  <a:latin typeface="+mj-ea"/>
                </a:rPr>
                <a:t>ID </a:t>
              </a:r>
              <a:r>
                <a:rPr kumimoji="1" lang="ko-KR" altLang="en-US" sz="1050" dirty="0">
                  <a:latin typeface="+mj-ea"/>
                </a:rPr>
                <a:t>기록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ko-KR" altLang="en-US" sz="1050" dirty="0">
                  <a:latin typeface="+mj-ea"/>
                </a:rPr>
                <a:t>실패 로그인</a:t>
              </a:r>
              <a:r>
                <a:rPr kumimoji="1" lang="en-US" altLang="ko-KR" sz="1050" dirty="0">
                  <a:latin typeface="+mj-ea"/>
                </a:rPr>
                <a:t>, </a:t>
              </a:r>
              <a:r>
                <a:rPr kumimoji="1" lang="ko-KR" altLang="en-US" sz="1050" dirty="0">
                  <a:latin typeface="+mj-ea"/>
                </a:rPr>
                <a:t>비정상 대량 전송 탐지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ko-KR" altLang="en-US" sz="1050" dirty="0">
                  <a:latin typeface="+mj-ea"/>
                </a:rPr>
                <a:t>결과 송수신 이력 보존</a:t>
              </a: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0C094390-E945-E036-090A-F28DB5E10C26}"/>
              </a:ext>
            </a:extLst>
          </p:cNvPr>
          <p:cNvGrpSpPr/>
          <p:nvPr/>
        </p:nvGrpSpPr>
        <p:grpSpPr>
          <a:xfrm>
            <a:off x="6650305" y="4887644"/>
            <a:ext cx="4580593" cy="1505878"/>
            <a:chOff x="310896" y="4224528"/>
            <a:chExt cx="2211568" cy="2267712"/>
          </a:xfrm>
        </p:grpSpPr>
        <p:sp>
          <p:nvSpPr>
            <p:cNvPr id="190" name="Shape 62">
              <a:extLst>
                <a:ext uri="{FF2B5EF4-FFF2-40B4-BE49-F238E27FC236}">
                  <a16:creationId xmlns:a16="http://schemas.microsoft.com/office/drawing/2014/main" id="{86592F79-AD7E-7531-ACCB-3AED2D0752CF}"/>
                </a:ext>
              </a:extLst>
            </p:cNvPr>
            <p:cNvSpPr/>
            <p:nvPr/>
          </p:nvSpPr>
          <p:spPr>
            <a:xfrm>
              <a:off x="310896" y="4224528"/>
              <a:ext cx="2211568" cy="2267710"/>
            </a:xfrm>
            <a:prstGeom prst="roundRect">
              <a:avLst>
                <a:gd name="adj" fmla="val 2481"/>
              </a:avLst>
            </a:prstGeom>
            <a:solidFill>
              <a:srgbClr val="FFFFFF"/>
            </a:solidFill>
            <a:ln w="12700">
              <a:solidFill>
                <a:srgbClr val="DBE3EC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91" name="Shape 63">
              <a:extLst>
                <a:ext uri="{FF2B5EF4-FFF2-40B4-BE49-F238E27FC236}">
                  <a16:creationId xmlns:a16="http://schemas.microsoft.com/office/drawing/2014/main" id="{4D4C7AEB-75D5-ADEE-9C0F-3836448974C8}"/>
                </a:ext>
              </a:extLst>
            </p:cNvPr>
            <p:cNvSpPr/>
            <p:nvPr/>
          </p:nvSpPr>
          <p:spPr>
            <a:xfrm>
              <a:off x="310896" y="4224528"/>
              <a:ext cx="2211568" cy="605881"/>
            </a:xfrm>
            <a:prstGeom prst="rect">
              <a:avLst/>
            </a:prstGeom>
            <a:solidFill>
              <a:srgbClr val="002060"/>
            </a:solidFill>
            <a:ln/>
          </p:spPr>
          <p:txBody>
            <a:bodyPr/>
            <a:lstStyle/>
            <a:p>
              <a:endParaRPr lang="ko-KR" altLang="en-US" sz="2000" dirty="0"/>
            </a:p>
          </p:txBody>
        </p:sp>
        <p:sp>
          <p:nvSpPr>
            <p:cNvPr id="192" name="Text 65">
              <a:extLst>
                <a:ext uri="{FF2B5EF4-FFF2-40B4-BE49-F238E27FC236}">
                  <a16:creationId xmlns:a16="http://schemas.microsoft.com/office/drawing/2014/main" id="{CB0419D8-CE21-0C8F-0467-01929C38748A}"/>
                </a:ext>
              </a:extLst>
            </p:cNvPr>
            <p:cNvSpPr/>
            <p:nvPr/>
          </p:nvSpPr>
          <p:spPr>
            <a:xfrm>
              <a:off x="310896" y="42793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93" name="Text 66">
              <a:extLst>
                <a:ext uri="{FF2B5EF4-FFF2-40B4-BE49-F238E27FC236}">
                  <a16:creationId xmlns:a16="http://schemas.microsoft.com/office/drawing/2014/main" id="{2A843141-EF6C-2900-3097-53C977E2FE84}"/>
                </a:ext>
              </a:extLst>
            </p:cNvPr>
            <p:cNvSpPr/>
            <p:nvPr/>
          </p:nvSpPr>
          <p:spPr>
            <a:xfrm>
              <a:off x="420624" y="4326070"/>
              <a:ext cx="19921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데이터 반출 통제</a:t>
              </a:r>
              <a:endParaRPr lang="en-US" sz="1200" dirty="0"/>
            </a:p>
          </p:txBody>
        </p:sp>
        <p:sp>
          <p:nvSpPr>
            <p:cNvPr id="194" name="Text 68">
              <a:extLst>
                <a:ext uri="{FF2B5EF4-FFF2-40B4-BE49-F238E27FC236}">
                  <a16:creationId xmlns:a16="http://schemas.microsoft.com/office/drawing/2014/main" id="{66AB18BF-17EE-10A4-E313-50ABBE158C7F}"/>
                </a:ext>
              </a:extLst>
            </p:cNvPr>
            <p:cNvSpPr/>
            <p:nvPr/>
          </p:nvSpPr>
          <p:spPr>
            <a:xfrm>
              <a:off x="420624" y="5019508"/>
              <a:ext cx="1992112" cy="14727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ko-KR" altLang="en-US" sz="1050" dirty="0">
                  <a:latin typeface="+mj-ea"/>
                </a:rPr>
                <a:t>원본 </a:t>
              </a:r>
              <a:r>
                <a:rPr kumimoji="1" lang="en" altLang="ko-KR" sz="1050" dirty="0">
                  <a:latin typeface="+mj-ea"/>
                </a:rPr>
                <a:t>raw </a:t>
              </a:r>
              <a:r>
                <a:rPr kumimoji="1" lang="ko-KR" altLang="en-US" sz="1050" dirty="0">
                  <a:latin typeface="+mj-ea"/>
                </a:rPr>
                <a:t>데이터는 </a:t>
              </a:r>
              <a:r>
                <a:rPr kumimoji="1" lang="ko-KR" altLang="en-US" sz="1050" dirty="0" err="1">
                  <a:latin typeface="+mj-ea"/>
                </a:rPr>
                <a:t>내부망</a:t>
              </a:r>
              <a:r>
                <a:rPr kumimoji="1" lang="ko-KR" altLang="en-US" sz="1050" dirty="0">
                  <a:latin typeface="+mj-ea"/>
                </a:rPr>
                <a:t> 보관 원칙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" altLang="ko-KR" sz="1050" dirty="0">
                  <a:latin typeface="+mj-ea"/>
                </a:rPr>
                <a:t>DMZ</a:t>
              </a:r>
              <a:r>
                <a:rPr kumimoji="1" lang="ko-KR" altLang="en-US" sz="1050" dirty="0">
                  <a:latin typeface="+mj-ea"/>
                </a:rPr>
                <a:t>에는 필요한 분석 결과</a:t>
              </a:r>
              <a:r>
                <a:rPr kumimoji="1" lang="en-US" altLang="ko-KR" sz="1050" dirty="0">
                  <a:latin typeface="+mj-ea"/>
                </a:rPr>
                <a:t>/</a:t>
              </a:r>
              <a:r>
                <a:rPr kumimoji="1" lang="ko-KR" altLang="en-US" sz="1050" dirty="0">
                  <a:latin typeface="+mj-ea"/>
                </a:rPr>
                <a:t>보고용 산출물만 전달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ko-KR" altLang="en-US" sz="1050" dirty="0">
                  <a:latin typeface="+mj-ea"/>
                </a:rPr>
                <a:t>고객 송신은 </a:t>
              </a:r>
              <a:r>
                <a:rPr kumimoji="1" lang="en" altLang="ko-KR" sz="1050" dirty="0">
                  <a:latin typeface="+mj-ea"/>
                </a:rPr>
                <a:t>LIMS </a:t>
              </a:r>
              <a:r>
                <a:rPr kumimoji="1" lang="ko-KR" altLang="en-US" sz="1050" dirty="0">
                  <a:latin typeface="+mj-ea"/>
                </a:rPr>
                <a:t>승인 절차 이후 수행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6611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500</Words>
  <Application>Microsoft Macintosh PowerPoint</Application>
  <PresentationFormat>와이드스크린</PresentationFormat>
  <Paragraphs>99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RITAS-AX 보안 구성도</dc:title>
  <dc:subject>PptxGenJS Presentation</dc:subject>
  <dc:creator>휴비즈아이씨티</dc:creator>
  <cp:lastModifiedBy>Byeong Hoon Yoon</cp:lastModifiedBy>
  <cp:revision>16</cp:revision>
  <dcterms:created xsi:type="dcterms:W3CDTF">2026-06-08T07:34:58Z</dcterms:created>
  <dcterms:modified xsi:type="dcterms:W3CDTF">2026-06-10T16:10:53Z</dcterms:modified>
</cp:coreProperties>
</file>