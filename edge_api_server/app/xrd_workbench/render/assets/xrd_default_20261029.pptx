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image1.jpeg" ContentType="image/jpeg"/>
  <Override PartName="/ppt/media/image2.png" ContentType="image/png"/>
  <Override PartName="/ppt/media/image3.jpg" ContentType="image/jpeg"/>
  <Override PartName="/ppt/slideLayouts/slideLayout7.xml" ContentType="application/vnd.openxmlformats-officedocument.presentationml.slideLayout+xml"/>
  <Override PartName="/ppt/slides/slide4.xml" ContentType="application/vnd.openxmlformats-officedocument.presentationml.slide+xml"/>
  <Default Extension="jpg" ContentType="image/jpeg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sldIdLst>
    <p:sldId id="257" r:id="rId2"/>
    <p:sldId id="259" r:id="rId3"/>
    <p:sldId id="260" r:id="rId4"/>
    <p:sldId id="1000" r:id="rIdXrdCover"/>
  </p:sldIdLst>
  <p:sldSz cx="9906000" cy="6858000" type="A4"/>
  <p:notesSz cx="6858000" cy="9906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7D359557-D3B4-918D-2626-71A7227D4303}">
          <p14:sldIdLst/>
        </p14:section>
        <p14:section name="분석 결과 요약" id="{A902BDEB-5CCF-6AE4-BA5C-F36A11A7409A}">
          <p14:sldIdLst>
            <p14:sldId id="257"/>
          </p14:sldIdLst>
        </p14:section>
        <p14:section name="상 동정 및 정량" id="{A40DD5E2-8D27-CAC1-DF10-ECB8F1C84A01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3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XrdCover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1932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80760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599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7795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C60F-A006-4190-86AD-0218CCBC42F6}" type="datetime1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E09FA-989F-4439-A072-A870E1E038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8255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347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0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7"/>
          <p:cNvGrpSpPr>
            <a:grpSpLocks/>
          </p:cNvGrpSpPr>
          <p:nvPr/>
        </p:nvGrpSpPr>
        <p:grpSpPr bwMode="auto">
          <a:xfrm>
            <a:off x="0" y="0"/>
            <a:ext cx="9915525" cy="659027"/>
            <a:chOff x="0" y="-5"/>
            <a:chExt cx="6246" cy="396"/>
          </a:xfrm>
        </p:grpSpPr>
        <p:pic>
          <p:nvPicPr>
            <p:cNvPr id="8" name="Picture 7" descr="a3"/>
            <p:cNvPicPr>
              <a:picLocks noChangeAspect="1" noChangeArrowheads="1"/>
            </p:cNvPicPr>
            <p:nvPr/>
          </p:nvPicPr>
          <p:blipFill>
            <a:blip r:embed="rId9" cstate="print"/>
            <a:srcRect b="88460"/>
            <a:stretch>
              <a:fillRect/>
            </a:stretch>
          </p:blipFill>
          <p:spPr bwMode="auto">
            <a:xfrm>
              <a:off x="0" y="-5"/>
              <a:ext cx="6240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Line 159"/>
            <p:cNvSpPr>
              <a:spLocks noChangeShapeType="1"/>
            </p:cNvSpPr>
            <p:nvPr/>
          </p:nvSpPr>
          <p:spPr bwMode="auto">
            <a:xfrm>
              <a:off x="2" y="391"/>
              <a:ext cx="6244" cy="0"/>
            </a:xfrm>
            <a:prstGeom prst="line">
              <a:avLst/>
            </a:prstGeom>
            <a:noFill/>
            <a:ln w="3175">
              <a:solidFill>
                <a:srgbClr val="B2B2B2"/>
              </a:solidFill>
              <a:prstDash val="sysDot"/>
              <a:round/>
              <a:headEnd/>
              <a:tailEnd/>
            </a:ln>
          </p:spPr>
          <p:txBody>
            <a:bodyPr wrap="none" bIns="46800" anchor="ctr"/>
            <a:lstStyle/>
            <a:p>
              <a:endParaRPr lang="ko-KR" altLang="en-US"/>
            </a:p>
          </p:txBody>
        </p:sp>
      </p:grpSp>
      <p:pic>
        <p:nvPicPr>
          <p:cNvPr id="11" name="Picture 1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9" y="6630826"/>
            <a:ext cx="489993" cy="147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6500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28016"/>
            <a:ext cx="76809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sz="2400" b="1">
                <a:solidFill>
                  <a:srgbClr val="102A3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3" name="Text 2"/>
          <p:cNvSpPr txBox="1"/>
          <p:nvPr/>
        </p:nvSpPr>
        <p:spPr>
          <a:xfrm>
            <a:off x="8874557" y="234933"/>
            <a:ext cx="990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XRD</a:t>
            </a:r>
            <a:endParaRPr lang="en-US" sz="1100" dirty="0"/>
          </a:p>
        </p:txBody>
      </p:sp>
      <p:sp>
        <p:nvSpPr>
          <p:cNvPr id="4" name="Page number"/>
          <p:cNvSpPr txBox="1"/>
          <p:nvPr/>
        </p:nvSpPr>
        <p:spPr>
          <a:xfrm>
            <a:off x="8531352" y="6327648"/>
            <a:ext cx="914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1000" b="0" dirty="0">
                <a:solidFill>
                  <a:srgbClr val="6B7F88"/>
                </a:solidFill>
                <a:latin typeface="Malgun Gothic"/>
                <a:ea typeface="Malgun Gothic"/>
                <a:cs typeface="Malgun Gothic"/>
              </a:rPr>
              <a:t/>
            </a:r>
            <a:endParaRPr sz="1000" b="0" dirty="0">
              <a:solidFill>
                <a:srgbClr val="6B7F8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Overlay frame"/>
          <p:cNvSpPr/>
          <p:nvPr/>
        </p:nvSpPr>
        <p:spPr>
          <a:xfrm>
            <a:off x="288000" y="1224000"/>
            <a:ext cx="4608000" cy="33840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6" name="Sample frame"/>
          <p:cNvSpPr/>
          <p:nvPr/>
        </p:nvSpPr>
        <p:spPr>
          <a:xfrm>
            <a:off x="5148000" y="1224000"/>
            <a:ext cx="2196000" cy="18180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7" name="Sample frame"/>
          <p:cNvSpPr/>
          <p:nvPr/>
        </p:nvSpPr>
        <p:spPr>
          <a:xfrm>
            <a:off x="7452000" y="1224000"/>
            <a:ext cx="2196000" cy="18180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8" name="Sample frame"/>
          <p:cNvSpPr/>
          <p:nvPr/>
        </p:nvSpPr>
        <p:spPr>
          <a:xfrm>
            <a:off x="5148000" y="3150000"/>
            <a:ext cx="2196000" cy="21060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9" name="Sample frame"/>
          <p:cNvSpPr/>
          <p:nvPr/>
        </p:nvSpPr>
        <p:spPr>
          <a:xfrm>
            <a:off x="7452000" y="3150000"/>
            <a:ext cx="2196000" cy="21060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10" name="Remarks box"/>
          <p:cNvSpPr/>
          <p:nvPr/>
        </p:nvSpPr>
        <p:spPr>
          <a:xfrm>
            <a:off x="287999" y="5328000"/>
            <a:ext cx="8915268" cy="119730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760720" y="1517904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15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33643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 동정 (Phase Identification) &amp; WPPF 정량 (Phase Fraction) 결과</a:t>
            </a:r>
            <a:endParaRPr lang="en-US" sz="1900" dirty="0"/>
          </a:p>
        </p:txBody>
      </p:sp>
      <p:sp>
        <p:nvSpPr>
          <p:cNvPr id="3" name="Page number"/>
          <p:cNvSpPr txBox="1"/>
          <p:nvPr/>
        </p:nvSpPr>
        <p:spPr>
          <a:xfrm>
            <a:off x="8531352" y="6327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000" dirty="0"/>
          </a:p>
        </p:txBody>
      </p:sp>
      <p:sp>
        <p:nvSpPr>
          <p:cNvPr id="4" name="Text 5"/>
          <p:cNvSpPr txBox="1"/>
          <p:nvPr/>
        </p:nvSpPr>
        <p:spPr>
          <a:xfrm>
            <a:off x="457200" y="1097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200" dirty="0"/>
          </a:p>
        </p:txBody>
      </p:sp>
      <p:sp>
        <p:nvSpPr>
          <p:cNvPr id="5" name="Match frame"/>
          <p:cNvSpPr/>
          <p:nvPr/>
        </p:nvSpPr>
        <p:spPr>
          <a:xfrm>
            <a:off x="457200" y="1426464"/>
            <a:ext cx="53035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6" name="Section label"/>
          <p:cNvSpPr txBox="1"/>
          <p:nvPr/>
        </p:nvSpPr>
        <p:spPr>
          <a:xfrm>
            <a:off x="457200" y="42245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주요상 / 미량상 &amp; 추정상</a:t>
            </a:r>
            <a:endParaRPr lang="en-US" sz="1300" dirty="0"/>
          </a:p>
        </p:txBody>
      </p:sp>
      <p:graphicFrame>
        <p:nvGraphicFramePr>
          <p:cNvPr id="7" name="Phas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53712"/>
          <a:ext cx="5303520" cy="1243584"/>
        </p:xfrm>
        <a:graphic>
          <a:graphicData uri="http://schemas.openxmlformats.org/drawingml/2006/table">
            <a:tbl>
              <a:tblPr/>
              <a:tblGrid>
                <a:gridCol w="2492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4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 (Phase)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화학식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/ Card No.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r>
                        <a:rPr lang="en-US" sz="950" b="1" baseline="-40000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r>
                        <a:rPr lang="en-US" sz="950" b="1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r>
                        <a:rPr lang="en-US" sz="950" b="1" baseline="-40000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r>
                        <a:rPr lang="en-US" sz="950" b="1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7F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Source link frame"/>
          <p:cNvSpPr/>
          <p:nvPr/>
        </p:nvSpPr>
        <p:spPr>
          <a:xfrm>
            <a:off x="852854" y="6064933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9" name="Text 9"/>
          <p:cNvSpPr txBox="1"/>
          <p:nvPr/>
        </p:nvSpPr>
        <p:spPr>
          <a:xfrm>
            <a:off x="852854" y="6064933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10" name="Source link frame"/>
          <p:cNvSpPr/>
          <p:nvPr/>
        </p:nvSpPr>
        <p:spPr>
          <a:xfrm>
            <a:off x="2663366" y="6064933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2663366" y="606493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12" name="Source link frame"/>
          <p:cNvSpPr/>
          <p:nvPr/>
        </p:nvSpPr>
        <p:spPr>
          <a:xfrm>
            <a:off x="3742358" y="6064933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13" name="Text 13"/>
          <p:cNvSpPr txBox="1"/>
          <p:nvPr/>
        </p:nvSpPr>
        <p:spPr>
          <a:xfrm>
            <a:off x="3742358" y="6064933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14" name="Text 14"/>
          <p:cNvSpPr txBox="1"/>
          <p:nvPr/>
        </p:nvSpPr>
        <p:spPr>
          <a:xfrm>
            <a:off x="6035040" y="1097280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200" dirty="0"/>
          </a:p>
        </p:txBody>
      </p:sp>
      <p:sp>
        <p:nvSpPr>
          <p:cNvPr id="15" name="Pie frame"/>
          <p:cNvSpPr/>
          <p:nvPr/>
        </p:nvSpPr>
        <p:spPr>
          <a:xfrm>
            <a:off x="6035040" y="1609344"/>
            <a:ext cx="3413455" cy="416052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96920D2C-1109-4A95-A567-66226B6B0D7F}"/>
              </a:ext>
            </a:extLst>
          </p:cNvPr>
          <p:cNvSpPr txBox="1"/>
          <p:nvPr/>
        </p:nvSpPr>
        <p:spPr>
          <a:xfrm>
            <a:off x="8874557" y="234933"/>
            <a:ext cx="990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XRD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37160"/>
            <a:ext cx="76809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sz="2400" b="1">
                <a:solidFill>
                  <a:srgbClr val="102A3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8531352" y="6327648"/>
            <a:ext cx="914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1000" b="0" dirty="0">
                <a:solidFill>
                  <a:srgbClr val="6B7F88"/>
                </a:solidFill>
                <a:latin typeface="Malgun Gothic"/>
                <a:ea typeface="Malgun Gothic"/>
                <a:cs typeface="Malgun Gothic"/>
              </a:rPr>
              <a:t/>
            </a:r>
            <a:endParaRPr sz="1000" b="0" dirty="0">
              <a:solidFill>
                <a:srgbClr val="6B7F8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Text 5"/>
          <p:cNvSpPr txBox="1"/>
          <p:nvPr/>
        </p:nvSpPr>
        <p:spPr>
          <a:xfrm>
            <a:off x="457200" y="834726"/>
            <a:ext cx="432785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200" b="1" dirty="0">
                <a:solidFill>
                  <a:srgbClr val="102A35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200" b="1" dirty="0" err="1">
                <a:solidFill>
                  <a:srgbClr val="102A35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200" b="1" dirty="0">
                <a:solidFill>
                  <a:srgbClr val="102A35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200" b="1" dirty="0" err="1">
                <a:solidFill>
                  <a:srgbClr val="102A35"/>
                </a:solidFill>
                <a:latin typeface="Malgun Gothic"/>
                <a:ea typeface="Malgun Gothic"/>
                <a:cs typeface="Malgun Gothic"/>
              </a:rPr>
              <a:t/>
            </a:r>
            <a:endParaRPr sz="1200" b="1" dirty="0">
              <a:solidFill>
                <a:srgbClr val="102A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Match frame"/>
          <p:cNvSpPr/>
          <p:nvPr/>
        </p:nvSpPr>
        <p:spPr>
          <a:xfrm>
            <a:off x="457200" y="1163910"/>
            <a:ext cx="4327855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6" name="Section label"/>
          <p:cNvSpPr txBox="1"/>
          <p:nvPr/>
        </p:nvSpPr>
        <p:spPr>
          <a:xfrm>
            <a:off x="457200" y="3669366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주요상 / 미량상 &amp; 추정상</a:t>
            </a:r>
            <a:endParaRPr lang="en-US" sz="1300" dirty="0"/>
          </a:p>
        </p:txBody>
      </p:sp>
      <p:graphicFrame>
        <p:nvGraphicFramePr>
          <p:cNvPr id="7" name="Phas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88175"/>
              </p:ext>
            </p:extLst>
          </p:nvPr>
        </p:nvGraphicFramePr>
        <p:xfrm>
          <a:off x="457200" y="3998550"/>
          <a:ext cx="4327855" cy="1789428"/>
        </p:xfrm>
        <a:graphic>
          <a:graphicData uri="http://schemas.openxmlformats.org/drawingml/2006/table">
            <a:tbl>
              <a:tblPr/>
              <a:tblGrid>
                <a:gridCol w="2034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 (Phase)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화학식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188"/>
                        </a:lnSpc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 ICDD Card No.</a:t>
                      </a:r>
                      <a:endParaRPr sz="9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262">
                <a:tc>
                  <a:txBody>
                    <a:bodyPr/>
                    <a:lstStyle/>
                    <a:p>
                      <a:pPr marL="0" indent="0">
                        <a:lnSpc>
                          <a:spcPts val="1188"/>
                        </a:lnSpc>
                        <a:buNone/>
                      </a:pPr>
                      <a:r>
                        <a:rPr sz="700" b="0" dirty="0">
                          <a:solidFill>
                            <a:srgbClr val="102A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r>
                        <a:rPr sz="700" b="0" dirty="0" err="1">
                          <a:solidFill>
                            <a:srgbClr val="102A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r>
                        <a:rPr sz="700" b="0" dirty="0">
                          <a:solidFill>
                            <a:srgbClr val="102A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188"/>
                        </a:lnSpc>
                        <a:buNone/>
                      </a:pPr>
                      <a:r>
                        <a:rPr sz="700" b="1">
                          <a:solidFill>
                            <a:srgbClr val="102A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188"/>
                        </a:lnSpc>
                        <a:buNone/>
                      </a:pPr>
                      <a:r>
                        <a:rPr sz="700" b="0" dirty="0">
                          <a:solidFill>
                            <a:srgbClr val="102A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5120640" y="834726"/>
            <a:ext cx="432785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200" b="1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lang="en-US" sz="1200" b="1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200" b="1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200" b="1" dirty="0">
                <a:solidFill>
                  <a:srgbClr val="102A35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200" b="1" dirty="0" err="1">
                <a:solidFill>
                  <a:srgbClr val="102A35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200" b="1" dirty="0">
                <a:solidFill>
                  <a:srgbClr val="102A35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200" b="1" dirty="0" err="1">
                <a:solidFill>
                  <a:srgbClr val="102A35"/>
                </a:solidFill>
                <a:latin typeface="Malgun Gothic"/>
                <a:ea typeface="Malgun Gothic"/>
                <a:cs typeface="Malgun Gothic"/>
              </a:rPr>
              <a:t/>
            </a:r>
            <a:endParaRPr sz="1200" b="1" dirty="0">
              <a:solidFill>
                <a:srgbClr val="102A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Match frame"/>
          <p:cNvSpPr/>
          <p:nvPr/>
        </p:nvSpPr>
        <p:spPr>
          <a:xfrm>
            <a:off x="5120640" y="1163910"/>
            <a:ext cx="4327855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10" name="Section label"/>
          <p:cNvSpPr txBox="1"/>
          <p:nvPr/>
        </p:nvSpPr>
        <p:spPr>
          <a:xfrm>
            <a:off x="5120640" y="3669366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주요상 / 미량상 &amp; 추정상</a:t>
            </a:r>
            <a:endParaRPr lang="en-US" sz="1300" dirty="0"/>
          </a:p>
        </p:txBody>
      </p:sp>
      <p:graphicFrame>
        <p:nvGraphicFramePr>
          <p:cNvPr id="11" name="Phas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10752"/>
              </p:ext>
            </p:extLst>
          </p:nvPr>
        </p:nvGraphicFramePr>
        <p:xfrm>
          <a:off x="5120640" y="3998550"/>
          <a:ext cx="4327855" cy="1818377"/>
        </p:xfrm>
        <a:graphic>
          <a:graphicData uri="http://schemas.openxmlformats.org/drawingml/2006/table">
            <a:tbl>
              <a:tblPr/>
              <a:tblGrid>
                <a:gridCol w="2034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7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 (Phase)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화학식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188"/>
                        </a:lnSpc>
                        <a:buNone/>
                      </a:pPr>
                      <a:r>
                        <a:rPr lang="en-US" altLang="ko-KR" sz="9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 ICDD Card No.</a:t>
                      </a:r>
                      <a:endParaRPr sz="9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18">
                <a:tc>
                  <a:txBody>
                    <a:bodyPr/>
                    <a:lstStyle/>
                    <a:p>
                      <a:pPr marL="0" indent="0">
                        <a:lnSpc>
                          <a:spcPts val="1188"/>
                        </a:lnSpc>
                        <a:buNone/>
                      </a:pPr>
                      <a:r>
                        <a:rPr sz="700" b="0" dirty="0">
                          <a:solidFill>
                            <a:srgbClr val="102A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r>
                        <a:rPr sz="700" b="0" dirty="0" err="1">
                          <a:solidFill>
                            <a:srgbClr val="102A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r>
                        <a:rPr sz="700" b="0" dirty="0">
                          <a:solidFill>
                            <a:srgbClr val="102A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188"/>
                        </a:lnSpc>
                        <a:buNone/>
                      </a:pPr>
                      <a:r>
                        <a:rPr sz="700" b="1">
                          <a:solidFill>
                            <a:srgbClr val="102A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188"/>
                        </a:lnSpc>
                        <a:buNone/>
                      </a:pPr>
                      <a:r>
                        <a:rPr sz="700" b="0" dirty="0">
                          <a:solidFill>
                            <a:srgbClr val="102A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 2">
            <a:extLst>
              <a:ext uri="{FF2B5EF4-FFF2-40B4-BE49-F238E27FC236}">
                <a16:creationId xmlns:a16="http://schemas.microsoft.com/office/drawing/2014/main" id="{4870837A-C5C1-40AE-9BDD-E582D58FBA9F}"/>
              </a:ext>
            </a:extLst>
          </p:cNvPr>
          <p:cNvSpPr txBox="1"/>
          <p:nvPr/>
        </p:nvSpPr>
        <p:spPr>
          <a:xfrm>
            <a:off x="8874557" y="234933"/>
            <a:ext cx="990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XRD</a:t>
            </a:r>
            <a:endParaRPr lang="en-US" sz="1100" dirty="0"/>
          </a:p>
        </p:txBody>
      </p:sp>
      <p:sp>
        <p:nvSpPr>
          <p:cNvPr id="13" name="Source link frame"/>
          <p:cNvSpPr/>
          <p:nvPr/>
        </p:nvSpPr>
        <p:spPr>
          <a:xfrm>
            <a:off x="457200" y="584512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58451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15" name="Source link frame"/>
          <p:cNvSpPr/>
          <p:nvPr/>
        </p:nvSpPr>
        <p:spPr>
          <a:xfrm>
            <a:off x="2267712" y="584512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67712" y="58451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17" name="Source link frame"/>
          <p:cNvSpPr/>
          <p:nvPr/>
        </p:nvSpPr>
        <p:spPr>
          <a:xfrm>
            <a:off x="3346704" y="584512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46704" y="5845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19" name="Source link frame"/>
          <p:cNvSpPr/>
          <p:nvPr/>
        </p:nvSpPr>
        <p:spPr>
          <a:xfrm>
            <a:off x="5120640" y="584512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0" y="58451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21" name="Source link frame"/>
          <p:cNvSpPr/>
          <p:nvPr/>
        </p:nvSpPr>
        <p:spPr>
          <a:xfrm>
            <a:off x="6931152" y="584512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31152" y="58451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23" name="Source link frame"/>
          <p:cNvSpPr/>
          <p:nvPr/>
        </p:nvSpPr>
        <p:spPr>
          <a:xfrm>
            <a:off x="8010144" y="584512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10144" y="5845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ChangeArrowheads="1"/>
          </p:cNvSpPr>
          <p:nvPr/>
        </p:nvSpPr>
        <p:spPr bwMode="auto">
          <a:xfrm>
            <a:off x="928800" y="2604240"/>
            <a:ext cx="8048520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ko-KR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r>
              <a:rPr lang="ko-KR" altLang="en-US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r>
              <a:rPr lang="en-US" altLang="ko-KR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r>
              <a:rPr lang="ko-KR" altLang="en-US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endParaRPr lang="en-US" altLang="ko-KR" sz="2275" b="1" dirty="0">
              <a:solidFill>
                <a:srgbClr val="4F81BD">
                  <a:lumMod val="75000"/>
                </a:srgbClr>
              </a:solidFill>
              <a:latin typeface="HY헤드라인M" pitchFamily="18" charset="-127"/>
              <a:ea typeface="HY헤드라인M" pitchFamily="18" charset="-127"/>
            </a:endParaRPr>
          </a:p>
          <a:p>
            <a:pPr algn="ctr">
              <a:lnSpc>
                <a:spcPct val="120000"/>
              </a:lnSpc>
              <a:defRPr/>
            </a:pPr>
            <a:br>
              <a:rPr lang="en-US" altLang="ko-KR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</a:br>
            <a:r>
              <a:rPr lang="ko-KR" altLang="en-US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r>
              <a:rPr lang="en-US" altLang="ko-KR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r>
              <a:rPr lang="ko-KR" altLang="en-US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r>
              <a:rPr lang="en-US" altLang="ko-KR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r>
              <a:rPr lang="ko-KR" altLang="en-US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r>
              <a:rPr lang="ko-KR" altLang="en-US" sz="2275" b="1" dirty="0" err="1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endParaRPr lang="ko-KR" altLang="en-US" sz="2275" b="1" dirty="0">
              <a:solidFill>
                <a:srgbClr val="4F81BD">
                  <a:lumMod val="75000"/>
                </a:srgb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" name="Cover requester"/>
          <p:cNvSpPr txBox="1">
            <a:spLocks noChangeArrowheads="1"/>
          </p:cNvSpPr>
          <p:nvPr/>
        </p:nvSpPr>
        <p:spPr bwMode="auto">
          <a:xfrm>
            <a:off x="928800" y="3423600"/>
            <a:ext cx="8048520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ko-KR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r>
              <a:rPr lang="ko-KR" altLang="en-US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r>
              <a:rPr lang="en-US" altLang="ko-KR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r>
              <a:rPr lang="ko-KR" altLang="en-US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endParaRPr lang="en-US" altLang="ko-KR" sz="2275" b="1" dirty="0">
              <a:solidFill>
                <a:srgbClr val="4F81BD">
                  <a:lumMod val="75000"/>
                </a:srgbClr>
              </a:solidFill>
              <a:latin typeface="HY헤드라인M" pitchFamily="18" charset="-127"/>
              <a:ea typeface="HY헤드라인M" pitchFamily="18" charset="-127"/>
            </a:endParaRPr>
          </a:p>
          <a:p>
            <a:pPr algn="ctr">
              <a:lnSpc>
                <a:spcPct val="120000"/>
              </a:lnSpc>
              <a:defRPr/>
            </a:pPr>
            <a:br>
              <a:rPr lang="en-US" altLang="ko-KR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</a:br>
            <a:r>
              <a:rPr lang="ko-KR" altLang="en-US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r>
              <a:rPr lang="en-US" altLang="ko-KR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r>
              <a:rPr lang="ko-KR" altLang="en-US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r>
              <a:rPr lang="en-US" altLang="ko-KR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r>
              <a:rPr lang="ko-KR" altLang="en-US" sz="2275" b="1" dirty="0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r>
              <a:rPr lang="ko-KR" altLang="en-US" sz="2275" b="1" dirty="0" err="1">
                <a:solidFill>
                  <a:srgbClr val="4F81BD">
                    <a:lumMod val="75000"/>
                  </a:srgbClr>
                </a:solidFill>
                <a:latin typeface="HY헤드라인M" pitchFamily="18" charset="-127"/>
                <a:ea typeface="HY헤드라인M" pitchFamily="18" charset="-127"/>
              </a:rPr>
              <a:t/>
            </a:r>
            <a:endParaRPr lang="ko-KR" altLang="en-US" sz="2275" b="1" dirty="0">
              <a:solidFill>
                <a:srgbClr val="4F81BD">
                  <a:lumMod val="75000"/>
                </a:srgb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Cover completionDate">
            <a:extLst>
              <a:ext uri="{FF2B5EF4-FFF2-40B4-BE49-F238E27FC236}">
                <a16:creationId xmlns:a16="http://schemas.microsoft.com/office/drawing/2014/main" id="{589DF09E-14F5-53E0-783C-275100A20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265" y="5787494"/>
            <a:ext cx="1385460" cy="316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ko-KR" sz="1300" b="1" dirty="0">
                <a:ea typeface="HY헤드라인M" pitchFamily="18" charset="-127"/>
              </a:rPr>
              <a:t/>
            </a:r>
            <a:endParaRPr lang="ko-KR" altLang="en-US" sz="1300" b="1" dirty="0"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6518347"/>
      </p:ext>
    </p:extLst>
  </p:cSld>
  <p:clrMapOvr>
    <a:masterClrMapping/>
  </p:clrMapOvr>
</p:sld>
</file>

<file path=ppt/theme/theme1.xml><?xml version="1.0" encoding="utf-8"?>
<a:theme xmlns:a="http://schemas.openxmlformats.org/drawingml/2006/main" name="포스코 PPT 테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포스코 PPT 테마" id="{7E11F074-7D28-4BA9-8236-4C9F8BC2E2FE}" vid="{C0B4360F-FBFF-4E7A-A395-0300C5A021E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478</Words>
  <Application>Microsoft Office PowerPoint</Application>
  <PresentationFormat>A4 용지(210x297mm)</PresentationFormat>
  <Paragraphs>84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Malgun Gothic</vt:lpstr>
      <vt:lpstr>Malgun Gothic</vt:lpstr>
      <vt:lpstr>Arial</vt:lpstr>
      <vt:lpstr>Calibri</vt:lpstr>
      <vt:lpstr>포스코 PPT 테마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/>
  <dcterms:created xsi:type="dcterms:W3CDTF"/>
  <dcterms:modified xsi:type="dcterms:W3CDTF"/>
</cp:coreProperties>
</file>