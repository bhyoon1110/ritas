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sldIdLst>
    <p:sldId id="257" r:id="rId2"/>
    <p:sldId id="259" r:id="rId3"/>
    <p:sldId id="260" r:id="rId4"/>
  </p:sldIdLst>
  <p:sldSz cx="9906000" cy="6858000" type="A4"/>
  <p:notesSz cx="6858000" cy="990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D359557-D3B4-918D-2626-71A7227D4303}">
          <p14:sldIdLst/>
        </p14:section>
        <p14:section name="분석 결과 요약" id="{A902BDEB-5CCF-6AE4-BA5C-F36A11A7409A}">
          <p14:sldIdLst>
            <p14:sldId id="257"/>
          </p14:sldIdLst>
        </p14:section>
        <p14:section name="상 동정 및 정량" id="{A40DD5E2-8D27-CAC1-DF10-ECB8F1C84A01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932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0760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599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7795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9C60F-A006-4190-86AD-0218CCBC42F6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E09FA-989F-4439-A072-A870E1E038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8255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4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7"/>
          <p:cNvGrpSpPr>
            <a:grpSpLocks/>
          </p:cNvGrpSpPr>
          <p:nvPr/>
        </p:nvGrpSpPr>
        <p:grpSpPr bwMode="auto">
          <a:xfrm>
            <a:off x="0" y="0"/>
            <a:ext cx="9915525" cy="659027"/>
            <a:chOff x="0" y="-5"/>
            <a:chExt cx="6246" cy="396"/>
          </a:xfrm>
        </p:grpSpPr>
        <p:pic>
          <p:nvPicPr>
            <p:cNvPr id="8" name="Picture 7" descr="a3"/>
            <p:cNvPicPr>
              <a:picLocks noChangeAspect="1" noChangeArrowheads="1"/>
            </p:cNvPicPr>
            <p:nvPr/>
          </p:nvPicPr>
          <p:blipFill>
            <a:blip r:embed="rId8" cstate="print"/>
            <a:srcRect b="88460"/>
            <a:stretch>
              <a:fillRect/>
            </a:stretch>
          </p:blipFill>
          <p:spPr bwMode="auto">
            <a:xfrm>
              <a:off x="0" y="-5"/>
              <a:ext cx="6240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Line 159"/>
            <p:cNvSpPr>
              <a:spLocks noChangeShapeType="1"/>
            </p:cNvSpPr>
            <p:nvPr/>
          </p:nvSpPr>
          <p:spPr bwMode="auto">
            <a:xfrm>
              <a:off x="2" y="391"/>
              <a:ext cx="6244" cy="0"/>
            </a:xfrm>
            <a:prstGeom prst="line">
              <a:avLst/>
            </a:prstGeom>
            <a:noFill/>
            <a:ln w="3175">
              <a:solidFill>
                <a:srgbClr val="B2B2B2"/>
              </a:solidFill>
              <a:prstDash val="sysDot"/>
              <a:round/>
              <a:headEnd/>
              <a:tailEnd/>
            </a:ln>
          </p:spPr>
          <p:txBody>
            <a:bodyPr wrap="none" bIns="46800" anchor="ctr"/>
            <a:lstStyle/>
            <a:p>
              <a:endParaRPr lang="ko-KR" altLang="en-US"/>
            </a:p>
          </p:txBody>
        </p:sp>
      </p:grpSp>
      <p:pic>
        <p:nvPicPr>
          <p:cNvPr id="11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9" y="6630826"/>
            <a:ext cx="489993" cy="14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650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2801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요약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  <p:sp>
        <p:nvSpPr>
          <p:cNvPr id="7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8" name="Overlay frame"/>
          <p:cNvSpPr/>
          <p:nvPr/>
        </p:nvSpPr>
        <p:spPr>
          <a:xfrm>
            <a:off x="457200" y="1097280"/>
            <a:ext cx="48463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0" name="Section label"/>
          <p:cNvSpPr txBox="1"/>
          <p:nvPr/>
        </p:nvSpPr>
        <p:spPr>
          <a:xfrm>
            <a:off x="457200" y="4709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사항</a:t>
            </a:r>
            <a:endParaRPr lang="en-US" sz="1300" dirty="0"/>
          </a:p>
        </p:txBody>
      </p:sp>
      <p:sp>
        <p:nvSpPr>
          <p:cNvPr id="11" name="Guide box"/>
          <p:cNvSpPr/>
          <p:nvPr/>
        </p:nvSpPr>
        <p:spPr>
          <a:xfrm>
            <a:off x="457200" y="5038344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F5F8F9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2" name="Guide text"/>
          <p:cNvSpPr txBox="1"/>
          <p:nvPr/>
        </p:nvSpPr>
        <p:spPr>
          <a:xfrm>
            <a:off x="640080" y="5129784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E46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상 구분 및 불순물/미량 상 확인을 위해, 시료에 포함될 수 있는 주요 원소 정보(XRF/ICP/EDS)를 공유해주시면 상 후보를 원소 제약 조건으로 추가 검토할 수 있습니다.</a:t>
            </a:r>
            <a:endParaRPr lang="en-US" sz="10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2E46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정보가 없을 경우, XRD 결과만으로는 결정학적으로 유사한 상 구분 및 미량상 확인하는 데 한계가 있어 원소 성분 분석을 권장드립니다.</a:t>
            </a:r>
            <a:endParaRPr lang="en-US" sz="1000" dirty="0"/>
          </a:p>
        </p:txBody>
      </p:sp>
      <p:sp>
        <p:nvSpPr>
          <p:cNvPr id="13" name="Section label"/>
          <p:cNvSpPr txBox="1"/>
          <p:nvPr/>
        </p:nvSpPr>
        <p:spPr>
          <a:xfrm>
            <a:off x="5577840" y="109728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샘플별 결정상 (Phase) 정보</a:t>
            </a:r>
            <a:endParaRPr lang="en-US" sz="1300" dirty="0"/>
          </a:p>
        </p:txBody>
      </p:sp>
      <p:sp>
        <p:nvSpPr>
          <p:cNvPr id="14" name="Sample frame"/>
          <p:cNvSpPr/>
          <p:nvPr/>
        </p:nvSpPr>
        <p:spPr>
          <a:xfrm>
            <a:off x="5577840" y="1426464"/>
            <a:ext cx="3870655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760720" y="1517904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15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1810512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002536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760720" y="2194560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19" name="Sample frame"/>
          <p:cNvSpPr/>
          <p:nvPr/>
        </p:nvSpPr>
        <p:spPr>
          <a:xfrm>
            <a:off x="5577840" y="2542032"/>
            <a:ext cx="3870655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60720" y="2633472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15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5760720" y="2926080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760720" y="3118104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5760720" y="3310128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4" name="Sample frame"/>
          <p:cNvSpPr/>
          <p:nvPr/>
        </p:nvSpPr>
        <p:spPr>
          <a:xfrm>
            <a:off x="5577840" y="3657600"/>
            <a:ext cx="3870655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760720" y="3749040"/>
            <a:ext cx="3504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15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5760720" y="4041648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760720" y="4233672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760720" y="4425696"/>
            <a:ext cx="350489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0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29" name="Section label"/>
          <p:cNvSpPr txBox="1"/>
          <p:nvPr/>
        </p:nvSpPr>
        <p:spPr>
          <a:xfrm>
            <a:off x="5577840" y="470916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특이사항</a:t>
            </a:r>
            <a:endParaRPr lang="en-US" sz="1300" dirty="0"/>
          </a:p>
        </p:txBody>
      </p:sp>
      <p:sp>
        <p:nvSpPr>
          <p:cNvPr id="30" name="Remarks box"/>
          <p:cNvSpPr/>
          <p:nvPr/>
        </p:nvSpPr>
        <p:spPr>
          <a:xfrm>
            <a:off x="5575097" y="5038344"/>
            <a:ext cx="3870655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760720" y="516636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B2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3643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 동정 (Phase Identification) &amp; WPPF 정량 (Phase Fraction) 결과</a:t>
            </a:r>
            <a:endParaRPr lang="en-US" sz="1900" dirty="0"/>
          </a:p>
        </p:txBody>
      </p:sp>
      <p:sp>
        <p:nvSpPr>
          <p:cNvPr id="7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9" name="Match frame"/>
          <p:cNvSpPr/>
          <p:nvPr/>
        </p:nvSpPr>
        <p:spPr>
          <a:xfrm>
            <a:off x="457200" y="1426464"/>
            <a:ext cx="530352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1" name="Section label"/>
          <p:cNvSpPr txBox="1"/>
          <p:nvPr/>
        </p:nvSpPr>
        <p:spPr>
          <a:xfrm>
            <a:off x="45720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12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53712"/>
          <a:ext cx="5303520" cy="1243584"/>
        </p:xfrm>
        <a:graphic>
          <a:graphicData uri="http://schemas.openxmlformats.org/drawingml/2006/table">
            <a:tbl>
              <a:tblPr/>
              <a:tblGrid>
                <a:gridCol w="2492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/ Card No.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F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Source link frame"/>
          <p:cNvSpPr/>
          <p:nvPr/>
        </p:nvSpPr>
        <p:spPr>
          <a:xfrm>
            <a:off x="852854" y="6064933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52854" y="6064933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5" name="Source link frame"/>
          <p:cNvSpPr/>
          <p:nvPr/>
        </p:nvSpPr>
        <p:spPr>
          <a:xfrm>
            <a:off x="2663366" y="6064933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663366" y="606493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7" name="Source link frame"/>
          <p:cNvSpPr/>
          <p:nvPr/>
        </p:nvSpPr>
        <p:spPr>
          <a:xfrm>
            <a:off x="3742358" y="6064933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742358" y="6064933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6035040" y="109728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20" name="Pie frame"/>
          <p:cNvSpPr/>
          <p:nvPr/>
        </p:nvSpPr>
        <p:spPr>
          <a:xfrm>
            <a:off x="6035040" y="1609344"/>
            <a:ext cx="3413455" cy="416052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6920D2C-1109-4A95-A567-66226B6B0D7F}"/>
              </a:ext>
            </a:extLst>
          </p:cNvPr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 동정 (Phase Identification) 결과</a:t>
            </a:r>
            <a:endParaRPr lang="en-US" sz="2400" dirty="0"/>
          </a:p>
        </p:txBody>
      </p:sp>
      <p:sp>
        <p:nvSpPr>
          <p:cNvPr id="7" name="Page number"/>
          <p:cNvSpPr txBox="1"/>
          <p:nvPr/>
        </p:nvSpPr>
        <p:spPr>
          <a:xfrm>
            <a:off x="8531352" y="6327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F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044528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ko-KR" alt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9" name="Match frame"/>
          <p:cNvSpPr/>
          <p:nvPr/>
        </p:nvSpPr>
        <p:spPr>
          <a:xfrm>
            <a:off x="457200" y="1373712"/>
            <a:ext cx="432785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1" name="Section label"/>
          <p:cNvSpPr txBox="1"/>
          <p:nvPr/>
        </p:nvSpPr>
        <p:spPr>
          <a:xfrm>
            <a:off x="457200" y="3879168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12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76823"/>
              </p:ext>
            </p:extLst>
          </p:nvPr>
        </p:nvGraphicFramePr>
        <p:xfrm>
          <a:off x="457200" y="4208352"/>
          <a:ext cx="4327855" cy="1243584"/>
        </p:xfrm>
        <a:graphic>
          <a:graphicData uri="http://schemas.openxmlformats.org/drawingml/2006/table">
            <a:tbl>
              <a:tblPr/>
              <a:tblGrid>
                <a:gridCol w="2034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/ Card No.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baseline="-4000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r>
                        <a:rPr lang="en-US" sz="950" b="1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F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5120640" y="1044528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ko-KR" alt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r>
              <a:rPr lang="en-US" sz="1200" b="1" dirty="0">
                <a:solidFill>
                  <a:srgbClr val="102A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200" dirty="0"/>
          </a:p>
        </p:txBody>
      </p:sp>
      <p:sp>
        <p:nvSpPr>
          <p:cNvPr id="14" name="Match frame"/>
          <p:cNvSpPr/>
          <p:nvPr/>
        </p:nvSpPr>
        <p:spPr>
          <a:xfrm>
            <a:off x="5120640" y="1373712"/>
            <a:ext cx="4327855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5E0E3"/>
            </a:solidFill>
            <a:prstDash val="solid"/>
          </a:ln>
        </p:spPr>
      </p:sp>
      <p:sp>
        <p:nvSpPr>
          <p:cNvPr id="16" name="Section label"/>
          <p:cNvSpPr txBox="1"/>
          <p:nvPr/>
        </p:nvSpPr>
        <p:spPr>
          <a:xfrm>
            <a:off x="5120640" y="3879168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주요상 / 미량상 &amp; 추정상</a:t>
            </a:r>
            <a:endParaRPr lang="en-US" sz="1300" dirty="0"/>
          </a:p>
        </p:txBody>
      </p:sp>
      <p:graphicFrame>
        <p:nvGraphicFramePr>
          <p:cNvPr id="17" name="Ph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123409"/>
              </p:ext>
            </p:extLst>
          </p:nvPr>
        </p:nvGraphicFramePr>
        <p:xfrm>
          <a:off x="5120640" y="4208352"/>
          <a:ext cx="4327855" cy="1243584"/>
        </p:xfrm>
        <a:graphic>
          <a:graphicData uri="http://schemas.openxmlformats.org/drawingml/2006/table">
            <a:tbl>
              <a:tblPr/>
              <a:tblGrid>
                <a:gridCol w="2034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 (Phase)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화학식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/ Card No.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 err="1">
                          <a:solidFill>
                            <a:srgbClr val="102A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B7F8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/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R="73152" marT="0" marB="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Source link frame"/>
          <p:cNvSpPr/>
          <p:nvPr/>
        </p:nvSpPr>
        <p:spPr>
          <a:xfrm>
            <a:off x="457200" y="5845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57200" y="5845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0" name="Source link frame"/>
          <p:cNvSpPr/>
          <p:nvPr/>
        </p:nvSpPr>
        <p:spPr>
          <a:xfrm>
            <a:off x="2267712" y="58451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2267712" y="5845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2" name="Source link frame"/>
          <p:cNvSpPr/>
          <p:nvPr/>
        </p:nvSpPr>
        <p:spPr>
          <a:xfrm>
            <a:off x="3346704" y="58451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3346704" y="5845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4" name="Source link frame"/>
          <p:cNvSpPr/>
          <p:nvPr/>
        </p:nvSpPr>
        <p:spPr>
          <a:xfrm>
            <a:off x="5120640" y="584512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5120640" y="58451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6" name="Source link frame"/>
          <p:cNvSpPr/>
          <p:nvPr/>
        </p:nvSpPr>
        <p:spPr>
          <a:xfrm>
            <a:off x="6931152" y="584512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931152" y="58451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28" name="Source link frame"/>
          <p:cNvSpPr/>
          <p:nvPr/>
        </p:nvSpPr>
        <p:spPr>
          <a:xfrm>
            <a:off x="8010144" y="58451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9C8CD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10144" y="5845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0A7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85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870837A-C5C1-40AE-9BDD-E582D58FBA9F}"/>
              </a:ext>
            </a:extLst>
          </p:cNvPr>
          <p:cNvSpPr txBox="1"/>
          <p:nvPr/>
        </p:nvSpPr>
        <p:spPr>
          <a:xfrm>
            <a:off x="8874557" y="234933"/>
            <a:ext cx="990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포스코 PPT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포스코 PPT 테마" id="{7E11F074-7D28-4BA9-8236-4C9F8BC2E2FE}" vid="{C0B4360F-FBFF-4E7A-A395-0300C5A021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478</Words>
  <Application>Microsoft Office PowerPoint</Application>
  <PresentationFormat>A4 용지(210x297mm)</PresentationFormat>
  <Paragraphs>84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Malgun Gothic</vt:lpstr>
      <vt:lpstr>Malgun Gothic</vt:lpstr>
      <vt:lpstr>Arial</vt:lpstr>
      <vt:lpstr>Calibri</vt:lpstr>
      <vt:lpstr>포스코 PPT 테마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/>
  <dcterms:created xsi:type="dcterms:W3CDTF"/>
  <dcterms:modified xsi:type="dcterms:W3CDTF"/>
</cp:coreProperties>
</file>